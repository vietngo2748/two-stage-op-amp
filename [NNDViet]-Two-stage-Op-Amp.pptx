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4" r:id="rId4"/>
  </p:sldMasterIdLst>
  <p:notesMasterIdLst>
    <p:notesMasterId r:id="rId35"/>
  </p:notesMasterIdLst>
  <p:sldIdLst>
    <p:sldId id="256" r:id="rId5"/>
    <p:sldId id="695" r:id="rId6"/>
    <p:sldId id="779" r:id="rId7"/>
    <p:sldId id="780" r:id="rId8"/>
    <p:sldId id="781" r:id="rId9"/>
    <p:sldId id="753" r:id="rId10"/>
    <p:sldId id="782" r:id="rId11"/>
    <p:sldId id="784" r:id="rId12"/>
    <p:sldId id="783" r:id="rId13"/>
    <p:sldId id="785" r:id="rId14"/>
    <p:sldId id="786" r:id="rId15"/>
    <p:sldId id="787" r:id="rId16"/>
    <p:sldId id="788" r:id="rId17"/>
    <p:sldId id="789" r:id="rId18"/>
    <p:sldId id="790" r:id="rId19"/>
    <p:sldId id="791" r:id="rId20"/>
    <p:sldId id="792" r:id="rId21"/>
    <p:sldId id="794" r:id="rId22"/>
    <p:sldId id="795" r:id="rId23"/>
    <p:sldId id="796" r:id="rId24"/>
    <p:sldId id="797" r:id="rId25"/>
    <p:sldId id="798" r:id="rId26"/>
    <p:sldId id="799" r:id="rId27"/>
    <p:sldId id="793" r:id="rId28"/>
    <p:sldId id="800" r:id="rId29"/>
    <p:sldId id="801" r:id="rId30"/>
    <p:sldId id="802" r:id="rId31"/>
    <p:sldId id="717" r:id="rId32"/>
    <p:sldId id="694" r:id="rId33"/>
    <p:sldId id="275" r:id="rId3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92728827-AB52-47EB-9EE6-D018031EA8ED}">
          <p14:sldIdLst>
            <p14:sldId id="256"/>
            <p14:sldId id="695"/>
            <p14:sldId id="779"/>
            <p14:sldId id="780"/>
            <p14:sldId id="781"/>
            <p14:sldId id="753"/>
            <p14:sldId id="782"/>
            <p14:sldId id="784"/>
            <p14:sldId id="783"/>
            <p14:sldId id="785"/>
            <p14:sldId id="786"/>
            <p14:sldId id="787"/>
            <p14:sldId id="788"/>
            <p14:sldId id="789"/>
            <p14:sldId id="790"/>
            <p14:sldId id="791"/>
            <p14:sldId id="792"/>
            <p14:sldId id="794"/>
            <p14:sldId id="795"/>
            <p14:sldId id="796"/>
            <p14:sldId id="797"/>
            <p14:sldId id="798"/>
            <p14:sldId id="799"/>
            <p14:sldId id="793"/>
            <p14:sldId id="800"/>
            <p14:sldId id="801"/>
            <p14:sldId id="802"/>
            <p14:sldId id="717"/>
            <p14:sldId id="69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FD27"/>
    <a:srgbClr val="000099"/>
    <a:srgbClr val="FFCF9F"/>
    <a:srgbClr val="D2DFEE"/>
    <a:srgbClr val="A9C1DF"/>
    <a:srgbClr val="B3FFCC"/>
    <a:srgbClr val="FFCC66"/>
    <a:srgbClr val="FF66CC"/>
    <a:srgbClr val="006600"/>
    <a:srgbClr val="93C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20" autoAdjust="0"/>
    <p:restoredTop sz="96370" autoAdjust="0"/>
  </p:normalViewPr>
  <p:slideViewPr>
    <p:cSldViewPr snapToGrid="0">
      <p:cViewPr varScale="1">
        <p:scale>
          <a:sx n="75" d="100"/>
          <a:sy n="75" d="100"/>
        </p:scale>
        <p:origin x="672" y="43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>
      <p:cViewPr varScale="1">
        <p:scale>
          <a:sx n="59" d="100"/>
          <a:sy n="59" d="100"/>
        </p:scale>
        <p:origin x="3298" y="8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1047959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4" name="Google Shape;8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430716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620296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580818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73591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13792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ront Pag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"/>
          <p:cNvSpPr/>
          <p:nvPr/>
        </p:nvSpPr>
        <p:spPr>
          <a:xfrm>
            <a:off x="0" y="6553201"/>
            <a:ext cx="12192001" cy="304799"/>
          </a:xfrm>
          <a:custGeom>
            <a:avLst/>
            <a:gdLst/>
            <a:ahLst/>
            <a:cxnLst/>
            <a:rect l="l" t="t" r="r" b="b"/>
            <a:pathLst>
              <a:path w="7772400" h="520700" extrusionOk="0">
                <a:moveTo>
                  <a:pt x="0" y="520700"/>
                </a:moveTo>
                <a:lnTo>
                  <a:pt x="7772400" y="520700"/>
                </a:lnTo>
                <a:lnTo>
                  <a:pt x="7772400" y="0"/>
                </a:lnTo>
                <a:lnTo>
                  <a:pt x="0" y="0"/>
                </a:lnTo>
                <a:lnTo>
                  <a:pt x="0" y="520700"/>
                </a:lnTo>
                <a:close/>
              </a:path>
            </a:pathLst>
          </a:custGeom>
          <a:solidFill>
            <a:srgbClr val="3376C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14;p1"/>
          <p:cNvSpPr txBox="1">
            <a:spLocks/>
          </p:cNvSpPr>
          <p:nvPr userDrawn="1"/>
        </p:nvSpPr>
        <p:spPr>
          <a:xfrm>
            <a:off x="1" y="6648644"/>
            <a:ext cx="12191999" cy="294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/>
            <a:fld id="{00000000-1234-1234-1234-123412341234}" type="slidenum">
              <a:rPr lang="en-US" sz="1200" b="1" smtClean="0">
                <a:solidFill>
                  <a:schemeClr val="bg1"/>
                </a:solidFill>
                <a:latin typeface="Arial Rounded MT Bold" panose="020F0704030504030204" pitchFamily="34" charset="0"/>
              </a:rPr>
              <a:pPr algn="ctr"/>
              <a:t>‹#›</a:t>
            </a:fld>
            <a:endParaRPr lang="en-US" sz="12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algn="ctr"/>
            <a:endParaRPr lang="en-US" sz="12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grpSp>
        <p:nvGrpSpPr>
          <p:cNvPr id="18" name="Google Shape;18;p2"/>
          <p:cNvGrpSpPr/>
          <p:nvPr/>
        </p:nvGrpSpPr>
        <p:grpSpPr>
          <a:xfrm>
            <a:off x="0" y="0"/>
            <a:ext cx="12191999" cy="711516"/>
            <a:chOff x="-1" y="-14888"/>
            <a:chExt cx="7772401" cy="711516"/>
          </a:xfrm>
        </p:grpSpPr>
        <p:sp>
          <p:nvSpPr>
            <p:cNvPr id="19" name="Google Shape;19;p2"/>
            <p:cNvSpPr/>
            <p:nvPr/>
          </p:nvSpPr>
          <p:spPr>
            <a:xfrm>
              <a:off x="0" y="64803"/>
              <a:ext cx="7772400" cy="631825"/>
            </a:xfrm>
            <a:custGeom>
              <a:avLst/>
              <a:gdLst/>
              <a:ahLst/>
              <a:cxnLst/>
              <a:rect l="l" t="t" r="r" b="b"/>
              <a:pathLst>
                <a:path w="7772400" h="631825" extrusionOk="0">
                  <a:moveTo>
                    <a:pt x="0" y="631812"/>
                  </a:moveTo>
                  <a:lnTo>
                    <a:pt x="7772400" y="631812"/>
                  </a:lnTo>
                  <a:lnTo>
                    <a:pt x="7772400" y="0"/>
                  </a:lnTo>
                  <a:lnTo>
                    <a:pt x="0" y="0"/>
                  </a:lnTo>
                  <a:lnTo>
                    <a:pt x="0" y="631812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-1" y="-14888"/>
              <a:ext cx="7772400" cy="109855"/>
            </a:xfrm>
            <a:custGeom>
              <a:avLst/>
              <a:gdLst/>
              <a:ahLst/>
              <a:cxnLst/>
              <a:rect l="l" t="t" r="r" b="b"/>
              <a:pathLst>
                <a:path w="7772400" h="109854" extrusionOk="0">
                  <a:moveTo>
                    <a:pt x="0" y="109600"/>
                  </a:moveTo>
                  <a:lnTo>
                    <a:pt x="7772400" y="109600"/>
                  </a:lnTo>
                  <a:lnTo>
                    <a:pt x="7772400" y="0"/>
                  </a:lnTo>
                  <a:lnTo>
                    <a:pt x="0" y="0"/>
                  </a:lnTo>
                  <a:lnTo>
                    <a:pt x="0" y="109600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userDrawn="1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22;p2"/>
          <p:cNvSpPr/>
          <p:nvPr userDrawn="1"/>
        </p:nvSpPr>
        <p:spPr>
          <a:xfrm>
            <a:off x="0" y="6553201"/>
            <a:ext cx="12192001" cy="304799"/>
          </a:xfrm>
          <a:custGeom>
            <a:avLst/>
            <a:gdLst/>
            <a:ahLst/>
            <a:cxnLst/>
            <a:rect l="l" t="t" r="r" b="b"/>
            <a:pathLst>
              <a:path w="7772400" h="520700" extrusionOk="0">
                <a:moveTo>
                  <a:pt x="0" y="520700"/>
                </a:moveTo>
                <a:lnTo>
                  <a:pt x="7772400" y="520700"/>
                </a:lnTo>
                <a:lnTo>
                  <a:pt x="7772400" y="0"/>
                </a:lnTo>
                <a:lnTo>
                  <a:pt x="0" y="0"/>
                </a:lnTo>
                <a:lnTo>
                  <a:pt x="0" y="520700"/>
                </a:lnTo>
                <a:close/>
              </a:path>
            </a:pathLst>
          </a:custGeom>
          <a:solidFill>
            <a:srgbClr val="3376C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4;p1"/>
          <p:cNvSpPr txBox="1">
            <a:spLocks/>
          </p:cNvSpPr>
          <p:nvPr userDrawn="1"/>
        </p:nvSpPr>
        <p:spPr>
          <a:xfrm>
            <a:off x="0" y="6577607"/>
            <a:ext cx="12191999" cy="294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/>
            <a:fld id="{00000000-1234-1234-1234-123412341234}" type="slidenum">
              <a:rPr lang="en-US" sz="1200" b="1" smtClean="0">
                <a:solidFill>
                  <a:schemeClr val="bg1"/>
                </a:solidFill>
                <a:latin typeface="Arial Rounded MT Bold" panose="020F0704030504030204" pitchFamily="34" charset="0"/>
              </a:rPr>
              <a:pPr algn="ctr"/>
              <a:t>‹#›</a:t>
            </a:fld>
            <a:endParaRPr lang="en-US" sz="12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27" name="Google Shape;27;p3"/>
          <p:cNvCxnSpPr/>
          <p:nvPr/>
        </p:nvCxnSpPr>
        <p:spPr>
          <a:xfrm rot="10800000" flipH="1">
            <a:off x="229150" y="548707"/>
            <a:ext cx="11592983" cy="6350"/>
          </a:xfrm>
          <a:prstGeom prst="straightConnector1">
            <a:avLst/>
          </a:prstGeom>
          <a:noFill/>
          <a:ln w="50800" cap="flat" cmpd="sng">
            <a:solidFill>
              <a:srgbClr val="002060"/>
            </a:solidFill>
            <a:prstDash val="solid"/>
            <a:round/>
            <a:headEnd type="diamond" w="med" len="med"/>
            <a:tailEnd type="none" w="med" len="med"/>
          </a:ln>
        </p:spPr>
      </p:cxnSp>
      <p:sp>
        <p:nvSpPr>
          <p:cNvPr id="29" name="Google Shape;29;p3"/>
          <p:cNvSpPr txBox="1">
            <a:spLocks noGrp="1"/>
          </p:cNvSpPr>
          <p:nvPr>
            <p:ph type="body" idx="1"/>
          </p:nvPr>
        </p:nvSpPr>
        <p:spPr>
          <a:xfrm>
            <a:off x="300853" y="663547"/>
            <a:ext cx="11521280" cy="5488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−"/>
              <a:defRPr sz="20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−"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−"/>
              <a:defRPr sz="16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−"/>
              <a:defRPr sz="16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3" name="Google Shape;20;p2"/>
          <p:cNvSpPr/>
          <p:nvPr/>
        </p:nvSpPr>
        <p:spPr>
          <a:xfrm>
            <a:off x="0" y="0"/>
            <a:ext cx="12191997" cy="109855"/>
          </a:xfrm>
          <a:custGeom>
            <a:avLst/>
            <a:gdLst/>
            <a:ahLst/>
            <a:cxnLst/>
            <a:rect l="l" t="t" r="r" b="b"/>
            <a:pathLst>
              <a:path w="7772400" h="109854" extrusionOk="0">
                <a:moveTo>
                  <a:pt x="0" y="109600"/>
                </a:moveTo>
                <a:lnTo>
                  <a:pt x="7772400" y="109600"/>
                </a:lnTo>
                <a:lnTo>
                  <a:pt x="7772400" y="0"/>
                </a:lnTo>
                <a:lnTo>
                  <a:pt x="0" y="0"/>
                </a:lnTo>
                <a:lnTo>
                  <a:pt x="0" y="109600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8"/>
          <p:cNvSpPr txBox="1">
            <a:spLocks noGrp="1"/>
          </p:cNvSpPr>
          <p:nvPr>
            <p:ph type="ctrTitle"/>
          </p:nvPr>
        </p:nvSpPr>
        <p:spPr>
          <a:xfrm>
            <a:off x="0" y="738555"/>
            <a:ext cx="12192000" cy="3609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br>
              <a:rPr lang="en-US" sz="2400" dirty="0">
                <a:solidFill>
                  <a:srgbClr val="002060"/>
                </a:solidFill>
              </a:rPr>
            </a:br>
            <a:br>
              <a:rPr lang="en-US" dirty="0">
                <a:solidFill>
                  <a:srgbClr val="002060"/>
                </a:solidFill>
              </a:rPr>
            </a:br>
            <a:br>
              <a:rPr lang="en-US" dirty="0">
                <a:solidFill>
                  <a:srgbClr val="002060"/>
                </a:solidFill>
              </a:rPr>
            </a:br>
            <a:br>
              <a:rPr lang="en-US" dirty="0">
                <a:solidFill>
                  <a:srgbClr val="002060"/>
                </a:solidFill>
              </a:rPr>
            </a:br>
            <a:r>
              <a:rPr lang="en-US" dirty="0">
                <a:solidFill>
                  <a:srgbClr val="002060"/>
                </a:solidFill>
              </a:rPr>
              <a:t>Two stage Op-Amp 65nm</a:t>
            </a:r>
            <a:br>
              <a:rPr lang="en-US" dirty="0">
                <a:solidFill>
                  <a:srgbClr val="002060"/>
                </a:solidFill>
              </a:rPr>
            </a:br>
            <a:r>
              <a:rPr lang="en-US" dirty="0">
                <a:solidFill>
                  <a:srgbClr val="002060"/>
                </a:solidFill>
              </a:rPr>
              <a:t>Viet Ngo</a:t>
            </a:r>
            <a:endParaRPr dirty="0">
              <a:solidFill>
                <a:srgbClr val="002060"/>
              </a:solidFill>
            </a:endParaRPr>
          </a:p>
        </p:txBody>
      </p:sp>
      <p:sp>
        <p:nvSpPr>
          <p:cNvPr id="87" name="Google Shape;87;p8"/>
          <p:cNvSpPr/>
          <p:nvPr/>
        </p:nvSpPr>
        <p:spPr>
          <a:xfrm>
            <a:off x="0" y="6028584"/>
            <a:ext cx="12192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HCM City, </a:t>
            </a:r>
            <a:r>
              <a:rPr lang="vi-VN" sz="18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Oct</a:t>
            </a: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vi-VN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r>
              <a:rPr lang="en-US" sz="1800" b="1" baseline="30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2024</a:t>
            </a:r>
            <a:endParaRPr lang="en-US" dirty="0">
              <a:solidFill>
                <a:schemeClr val="dk1"/>
              </a:solidFill>
            </a:endParaRPr>
          </a:p>
        </p:txBody>
      </p:sp>
    </p:spTree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9"/>
          <p:cNvSpPr txBox="1">
            <a:spLocks noGrp="1"/>
          </p:cNvSpPr>
          <p:nvPr>
            <p:ph type="title" idx="4294967295"/>
          </p:nvPr>
        </p:nvSpPr>
        <p:spPr>
          <a:xfrm>
            <a:off x="239349" y="116632"/>
            <a:ext cx="10492382" cy="381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/>
            <a:r>
              <a:rPr lang="en-GB" sz="2800" dirty="0">
                <a:solidFill>
                  <a:srgbClr val="002060"/>
                </a:solidFill>
                <a:latin typeface="Arial Rounded MT Bold" panose="020F0704030504030204" pitchFamily="34" charset="0"/>
              </a:rPr>
              <a:t>Content</a:t>
            </a:r>
            <a:endParaRPr sz="1100" dirty="0">
              <a:solidFill>
                <a:srgbClr val="C000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5" name="Google Shape;95;p9" descr="image being cropped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7BDB356B-A2CC-0FA5-686F-B4015020D278}"/>
              </a:ext>
            </a:extLst>
          </p:cNvPr>
          <p:cNvSpPr txBox="1"/>
          <p:nvPr/>
        </p:nvSpPr>
        <p:spPr>
          <a:xfrm>
            <a:off x="155575" y="822121"/>
            <a:ext cx="1182390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vi-VN" sz="2800" dirty="0" err="1">
                <a:latin typeface="+mn-lt"/>
              </a:rPr>
              <a:t>Design</a:t>
            </a:r>
            <a:r>
              <a:rPr lang="vi-VN" sz="2800" dirty="0">
                <a:latin typeface="+mn-lt"/>
              </a:rPr>
              <a:t> </a:t>
            </a:r>
            <a:r>
              <a:rPr lang="vi-VN" sz="2800" dirty="0" err="1">
                <a:latin typeface="+mn-lt"/>
              </a:rPr>
              <a:t>Two-stage</a:t>
            </a:r>
            <a:r>
              <a:rPr lang="vi-VN" sz="2800" dirty="0">
                <a:latin typeface="+mn-lt"/>
              </a:rPr>
              <a:t> Opamp</a:t>
            </a:r>
          </a:p>
          <a:p>
            <a:pPr marL="514350" indent="-514350">
              <a:buFont typeface="+mj-lt"/>
              <a:buAutoNum type="arabicPeriod"/>
            </a:pPr>
            <a:r>
              <a:rPr lang="vi-VN" sz="2800" dirty="0" err="1">
                <a:latin typeface="+mn-lt"/>
              </a:rPr>
              <a:t>Testbench</a:t>
            </a:r>
            <a:endParaRPr lang="vi-VN" sz="2800" dirty="0">
              <a:latin typeface="+mn-lt"/>
            </a:endParaRPr>
          </a:p>
          <a:p>
            <a:pPr marL="514350" indent="-514350">
              <a:buFont typeface="+mj-lt"/>
              <a:buAutoNum type="arabicPeriod"/>
            </a:pPr>
            <a:r>
              <a:rPr lang="vi-VN" sz="2800" dirty="0" err="1">
                <a:latin typeface="+mn-lt"/>
              </a:rPr>
              <a:t>Result</a:t>
            </a:r>
            <a:endParaRPr lang="vi-VN" sz="2800" dirty="0">
              <a:latin typeface="+mn-lt"/>
            </a:endParaRPr>
          </a:p>
          <a:p>
            <a:pPr marL="514350" indent="-514350">
              <a:buFont typeface="+mj-lt"/>
              <a:buAutoNum type="arabicPeriod"/>
            </a:pPr>
            <a:r>
              <a:rPr lang="vi-VN" sz="2800" dirty="0" err="1">
                <a:latin typeface="+mn-lt"/>
              </a:rPr>
              <a:t>Layout</a:t>
            </a:r>
            <a:endParaRPr lang="vi-VN" sz="2800" dirty="0">
              <a:latin typeface="+mn-lt"/>
            </a:endParaRPr>
          </a:p>
          <a:p>
            <a:endParaRPr lang="vi-VN" sz="2800" dirty="0">
              <a:latin typeface="+mn-lt"/>
            </a:endParaRPr>
          </a:p>
          <a:p>
            <a:endParaRPr lang="vi-VN" sz="2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07091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92;p9">
            <a:extLst>
              <a:ext uri="{FF2B5EF4-FFF2-40B4-BE49-F238E27FC236}">
                <a16:creationId xmlns:a16="http://schemas.microsoft.com/office/drawing/2014/main" id="{68CBBCD6-2200-1617-94EC-F39B4B771E8B}"/>
              </a:ext>
            </a:extLst>
          </p:cNvPr>
          <p:cNvSpPr txBox="1">
            <a:spLocks/>
          </p:cNvSpPr>
          <p:nvPr/>
        </p:nvSpPr>
        <p:spPr>
          <a:xfrm>
            <a:off x="300853" y="90644"/>
            <a:ext cx="10492382" cy="381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/>
            <a:r>
              <a:rPr lang="vi-VN" sz="2800" dirty="0" err="1">
                <a:solidFill>
                  <a:srgbClr val="002060"/>
                </a:solidFill>
                <a:latin typeface="Arial Rounded MT Bold" panose="020F0704030504030204" pitchFamily="34" charset="0"/>
              </a:rPr>
              <a:t>Find</a:t>
            </a:r>
            <a:r>
              <a:rPr lang="vi-VN" sz="2800" dirty="0">
                <a:solidFill>
                  <a:srgbClr val="002060"/>
                </a:solidFill>
                <a:latin typeface="Arial Rounded MT Bold" panose="020F0704030504030204" pitchFamily="34" charset="0"/>
              </a:rPr>
              <a:t> </a:t>
            </a:r>
            <a:r>
              <a:rPr lang="vi-VN" sz="2800" dirty="0" err="1">
                <a:solidFill>
                  <a:srgbClr val="002060"/>
                </a:solidFill>
                <a:latin typeface="Arial Rounded MT Bold" panose="020F0704030504030204" pitchFamily="34" charset="0"/>
              </a:rPr>
              <a:t>UpCox</a:t>
            </a:r>
            <a:r>
              <a:rPr lang="vi-VN" sz="2800" dirty="0">
                <a:solidFill>
                  <a:srgbClr val="002060"/>
                </a:solidFill>
                <a:latin typeface="Arial Rounded MT Bold" panose="020F0704030504030204" pitchFamily="34" charset="0"/>
              </a:rPr>
              <a:t> </a:t>
            </a:r>
            <a:r>
              <a:rPr lang="vi-VN" sz="2800" dirty="0" err="1">
                <a:solidFill>
                  <a:srgbClr val="002060"/>
                </a:solidFill>
                <a:latin typeface="Arial Rounded MT Bold" panose="020F0704030504030204" pitchFamily="34" charset="0"/>
              </a:rPr>
              <a:t>and</a:t>
            </a:r>
            <a:r>
              <a:rPr lang="vi-VN" sz="2800" dirty="0">
                <a:solidFill>
                  <a:srgbClr val="002060"/>
                </a:solidFill>
                <a:latin typeface="Arial Rounded MT Bold" panose="020F0704030504030204" pitchFamily="34" charset="0"/>
              </a:rPr>
              <a:t> </a:t>
            </a:r>
            <a:r>
              <a:rPr lang="vi-VN" sz="2800" dirty="0" err="1">
                <a:solidFill>
                  <a:srgbClr val="002060"/>
                </a:solidFill>
                <a:latin typeface="Arial Rounded MT Bold" panose="020F0704030504030204" pitchFamily="34" charset="0"/>
              </a:rPr>
              <a:t>UnCox</a:t>
            </a:r>
            <a:r>
              <a:rPr lang="vi-VN" sz="2800" dirty="0">
                <a:solidFill>
                  <a:srgbClr val="002060"/>
                </a:solidFill>
                <a:latin typeface="Arial Rounded MT Bold" panose="020F0704030504030204" pitchFamily="34" charset="0"/>
              </a:rPr>
              <a:t> </a:t>
            </a:r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F758E395-5A50-523E-02BA-1CD2FD8BDE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4210" y="681594"/>
            <a:ext cx="8263580" cy="5494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867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E658A-8E32-B9D3-BA0B-858DFFC9F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92;p9">
            <a:extLst>
              <a:ext uri="{FF2B5EF4-FFF2-40B4-BE49-F238E27FC236}">
                <a16:creationId xmlns:a16="http://schemas.microsoft.com/office/drawing/2014/main" id="{73FB9935-1926-55D8-99FF-4030DBD449FC}"/>
              </a:ext>
            </a:extLst>
          </p:cNvPr>
          <p:cNvSpPr txBox="1">
            <a:spLocks/>
          </p:cNvSpPr>
          <p:nvPr/>
        </p:nvSpPr>
        <p:spPr>
          <a:xfrm>
            <a:off x="300853" y="90644"/>
            <a:ext cx="10492382" cy="381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/>
            <a:r>
              <a:rPr lang="vi-VN" sz="2800" dirty="0" err="1">
                <a:solidFill>
                  <a:srgbClr val="002060"/>
                </a:solidFill>
                <a:latin typeface="Arial Rounded MT Bold" panose="020F0704030504030204" pitchFamily="34" charset="0"/>
              </a:rPr>
              <a:t>Find</a:t>
            </a:r>
            <a:r>
              <a:rPr lang="vi-VN" sz="2800" dirty="0">
                <a:solidFill>
                  <a:srgbClr val="002060"/>
                </a:solidFill>
                <a:latin typeface="Arial Rounded MT Bold" panose="020F0704030504030204" pitchFamily="34" charset="0"/>
              </a:rPr>
              <a:t> </a:t>
            </a:r>
            <a:r>
              <a:rPr lang="vi-VN" sz="2800" dirty="0" err="1">
                <a:solidFill>
                  <a:srgbClr val="002060"/>
                </a:solidFill>
                <a:latin typeface="Arial Rounded MT Bold" panose="020F0704030504030204" pitchFamily="34" charset="0"/>
              </a:rPr>
              <a:t>UpCox</a:t>
            </a:r>
            <a:r>
              <a:rPr lang="vi-VN" sz="2800" dirty="0">
                <a:solidFill>
                  <a:srgbClr val="002060"/>
                </a:solidFill>
                <a:latin typeface="Arial Rounded MT Bold" panose="020F0704030504030204" pitchFamily="34" charset="0"/>
              </a:rPr>
              <a:t> </a:t>
            </a:r>
            <a:r>
              <a:rPr lang="vi-VN" sz="2800" dirty="0" err="1">
                <a:solidFill>
                  <a:srgbClr val="002060"/>
                </a:solidFill>
                <a:latin typeface="Arial Rounded MT Bold" panose="020F0704030504030204" pitchFamily="34" charset="0"/>
              </a:rPr>
              <a:t>and</a:t>
            </a:r>
            <a:r>
              <a:rPr lang="vi-VN" sz="2800" dirty="0">
                <a:solidFill>
                  <a:srgbClr val="002060"/>
                </a:solidFill>
                <a:latin typeface="Arial Rounded MT Bold" panose="020F0704030504030204" pitchFamily="34" charset="0"/>
              </a:rPr>
              <a:t> </a:t>
            </a:r>
            <a:r>
              <a:rPr lang="vi-VN" sz="2800" dirty="0" err="1">
                <a:solidFill>
                  <a:srgbClr val="002060"/>
                </a:solidFill>
                <a:latin typeface="Arial Rounded MT Bold" panose="020F0704030504030204" pitchFamily="34" charset="0"/>
              </a:rPr>
              <a:t>UnCox</a:t>
            </a:r>
            <a:r>
              <a:rPr lang="vi-VN" sz="2800" dirty="0">
                <a:solidFill>
                  <a:srgbClr val="002060"/>
                </a:solidFill>
                <a:latin typeface="Arial Rounded MT Bold" panose="020F0704030504030204" pitchFamily="34" charset="0"/>
              </a:rPr>
              <a:t> </a:t>
            </a:r>
          </a:p>
        </p:txBody>
      </p:sp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3F6CB9C7-7A78-4ACA-4E2F-E93FA75B49D0}"/>
              </a:ext>
            </a:extLst>
          </p:cNvPr>
          <p:cNvSpPr txBox="1"/>
          <p:nvPr/>
        </p:nvSpPr>
        <p:spPr>
          <a:xfrm>
            <a:off x="580571" y="856343"/>
            <a:ext cx="110018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800" dirty="0" err="1"/>
              <a:t>From</a:t>
            </a:r>
            <a:r>
              <a:rPr lang="vi-VN" sz="1800" dirty="0"/>
              <a:t> </a:t>
            </a:r>
            <a:r>
              <a:rPr lang="vi-VN" sz="1800" dirty="0" err="1"/>
              <a:t>schematic</a:t>
            </a:r>
            <a:r>
              <a:rPr lang="vi-VN" sz="1800" dirty="0"/>
              <a:t> </a:t>
            </a:r>
            <a:r>
              <a:rPr lang="vi-VN" sz="1800" dirty="0" err="1"/>
              <a:t>above</a:t>
            </a:r>
            <a:r>
              <a:rPr lang="vi-VN" sz="1800" dirty="0"/>
              <a:t>, </a:t>
            </a:r>
            <a:r>
              <a:rPr lang="vi-VN" sz="1800" dirty="0" err="1"/>
              <a:t>we</a:t>
            </a:r>
            <a:r>
              <a:rPr lang="vi-VN" sz="1800" dirty="0"/>
              <a:t> </a:t>
            </a:r>
            <a:r>
              <a:rPr lang="vi-VN" sz="1800" dirty="0" err="1"/>
              <a:t>find</a:t>
            </a:r>
            <a:r>
              <a:rPr lang="vi-VN" sz="1800" dirty="0"/>
              <a:t> DC_OP </a:t>
            </a:r>
            <a:r>
              <a:rPr lang="vi-VN" sz="1800" dirty="0" err="1"/>
              <a:t>of</a:t>
            </a:r>
            <a:r>
              <a:rPr lang="vi-VN" sz="1800" dirty="0"/>
              <a:t> NMOS </a:t>
            </a:r>
            <a:r>
              <a:rPr lang="vi-VN" sz="1800" dirty="0" err="1"/>
              <a:t>and</a:t>
            </a:r>
            <a:r>
              <a:rPr lang="vi-VN" sz="1800" dirty="0"/>
              <a:t> PMOS.</a:t>
            </a:r>
          </a:p>
          <a:p>
            <a:endParaRPr lang="en-US" sz="1800" dirty="0"/>
          </a:p>
        </p:txBody>
      </p:sp>
      <p:pic>
        <p:nvPicPr>
          <p:cNvPr id="8" name="Hình ảnh 7">
            <a:extLst>
              <a:ext uri="{FF2B5EF4-FFF2-40B4-BE49-F238E27FC236}">
                <a16:creationId xmlns:a16="http://schemas.microsoft.com/office/drawing/2014/main" id="{1C3FE024-0E71-F01E-3B7A-92AD4458DC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527" y="1267773"/>
            <a:ext cx="2257740" cy="619211"/>
          </a:xfrm>
          <a:prstGeom prst="rect">
            <a:avLst/>
          </a:prstGeom>
        </p:spPr>
      </p:pic>
      <p:pic>
        <p:nvPicPr>
          <p:cNvPr id="10" name="Hình ảnh 9">
            <a:extLst>
              <a:ext uri="{FF2B5EF4-FFF2-40B4-BE49-F238E27FC236}">
                <a16:creationId xmlns:a16="http://schemas.microsoft.com/office/drawing/2014/main" id="{736AEB60-A48E-D9D7-5007-7757323C2D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239194"/>
            <a:ext cx="2133898" cy="64779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Hộp Văn bản 10">
                <a:extLst>
                  <a:ext uri="{FF2B5EF4-FFF2-40B4-BE49-F238E27FC236}">
                    <a16:creationId xmlns:a16="http://schemas.microsoft.com/office/drawing/2014/main" id="{13238B7C-15D2-786F-0FE6-D5934CC29313}"/>
                  </a:ext>
                </a:extLst>
              </p:cNvPr>
              <p:cNvSpPr txBox="1"/>
              <p:nvPr/>
            </p:nvSpPr>
            <p:spPr>
              <a:xfrm>
                <a:off x="609600" y="2171700"/>
                <a:ext cx="10972800" cy="22713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vi-VN" sz="1800" i="1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vi-VN" sz="1800" i="1"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vi-VN" sz="1800" i="1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vi-VN" sz="1800" i="1">
                              <a:latin typeface="Cambria Math" panose="02040503050406030204" pitchFamily="18" charset="0"/>
                            </a:rPr>
                            <m:t>ox</m:t>
                          </m:r>
                        </m:sub>
                      </m:sSub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vi-VN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den>
                          </m:f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vi-VN" sz="1800" i="1"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  <m:r>
                        <a:rPr lang="vi-VN" sz="1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vi-VN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vi-VN" sz="1800" i="1" smtClean="0">
                              <a:latin typeface="Cambria Math" panose="02040503050406030204" pitchFamily="18" charset="0"/>
                            </a:rPr>
                            <m:t>Betan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vi-VN" sz="1800" i="1">
                              <a:latin typeface="Cambria Math" panose="02040503050406030204" pitchFamily="18" charset="0"/>
                            </a:rPr>
                            <m:t>eff</m:t>
                          </m:r>
                        </m:sub>
                      </m:sSub>
                      <m:r>
                        <a:rPr lang="vi-VN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vi-VN" sz="1800" i="1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vi-VN" sz="1800" i="1"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vi-VN" sz="1800" i="1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vi-VN" sz="1800" i="1">
                              <a:latin typeface="Cambria Math" panose="02040503050406030204" pitchFamily="18" charset="0"/>
                            </a:rPr>
                            <m:t>ox</m:t>
                          </m:r>
                        </m:sub>
                      </m:sSub>
                      <m:r>
                        <a:rPr lang="vi-VN" sz="1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vi-VN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3.537</m:t>
                          </m:r>
                          <m:r>
                            <m:rPr>
                              <m:sty m:val="p"/>
                            </m:rPr>
                            <a:rPr lang="vi-VN" sz="1800" i="1">
                              <a:latin typeface="Cambria Math" panose="02040503050406030204" pitchFamily="18" charset="0"/>
                            </a:rPr>
                            <m:t>m</m:t>
                          </m:r>
                        </m:num>
                        <m:den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vi-VN" sz="1800" i="1">
                          <a:latin typeface="Cambria Math" panose="02040503050406030204" pitchFamily="18" charset="0"/>
                        </a:rPr>
                        <m:t>=353.</m:t>
                      </m:r>
                      <m:r>
                        <a:rPr lang="vi-VN" sz="180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m:rPr>
                          <m:sty m:val="p"/>
                        </m:rPr>
                        <a:rPr lang="vi-VN" sz="1800" i="1" smtClean="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vi-VN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vi-VN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354</m:t>
                      </m:r>
                      <m:r>
                        <m:rPr>
                          <m:sty m:val="p"/>
                        </m:rPr>
                        <a:rPr lang="vi-VN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u</m:t>
                      </m:r>
                    </m:oMath>
                  </m:oMathPara>
                </a14:m>
                <a:endParaRPr lang="vi-VN" sz="1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vi-VN" sz="1800" i="1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vi-VN" sz="1800" i="1">
                              <a:latin typeface="Cambria Math" panose="02040503050406030204" pitchFamily="18" charset="0"/>
                            </a:rPr>
                            <m:t>p</m:t>
                          </m:r>
                        </m:sub>
                      </m:sSub>
                      <m:sSub>
                        <m:sSub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vi-VN" sz="1800" i="1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vi-VN" sz="1800" i="1">
                              <a:latin typeface="Cambria Math" panose="02040503050406030204" pitchFamily="18" charset="0"/>
                            </a:rPr>
                            <m:t>ox</m:t>
                          </m:r>
                        </m:sub>
                      </m:sSub>
                      <m:sSub>
                        <m:sSub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1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vi-V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den>
                          </m:f>
                          <m:r>
                            <a:rPr lang="vi-VN" sz="1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vi-VN" sz="1800" i="1">
                              <a:latin typeface="Cambria Math" panose="02040503050406030204" pitchFamily="18" charset="0"/>
                            </a:rPr>
                            <m:t>p</m:t>
                          </m:r>
                        </m:sub>
                      </m:sSub>
                      <m:r>
                        <a:rPr lang="vi-V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vi-VN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vi-VN" sz="1800" i="1">
                              <a:latin typeface="Cambria Math" panose="02040503050406030204" pitchFamily="18" charset="0"/>
                            </a:rPr>
                            <m:t>Betap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vi-VN" sz="1800" i="1">
                              <a:latin typeface="Cambria Math" panose="02040503050406030204" pitchFamily="18" charset="0"/>
                            </a:rPr>
                            <m:t>eff</m:t>
                          </m:r>
                        </m:sub>
                      </m:sSub>
                      <m:r>
                        <a:rPr lang="vi-VN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vi-VN" sz="1800" i="1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vi-VN" sz="1800" i="1">
                              <a:latin typeface="Cambria Math" panose="02040503050406030204" pitchFamily="18" charset="0"/>
                            </a:rPr>
                            <m:t>p</m:t>
                          </m:r>
                        </m:sub>
                      </m:sSub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vi-VN" sz="1800" i="1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vi-VN" sz="1800" i="1">
                              <a:latin typeface="Cambria Math" panose="02040503050406030204" pitchFamily="18" charset="0"/>
                            </a:rPr>
                            <m:t>ox</m:t>
                          </m:r>
                        </m:sub>
                      </m:sSub>
                      <m:r>
                        <a:rPr lang="vi-V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vi-VN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vi-VN" sz="18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218</m:t>
                          </m:r>
                          <m:r>
                            <m:rPr>
                              <m:sty m:val="p"/>
                            </m:rPr>
                            <a:rPr lang="vi-VN" sz="1800" i="1">
                              <a:latin typeface="Cambria Math" panose="02040503050406030204" pitchFamily="18" charset="0"/>
                            </a:rPr>
                            <m:t>m</m:t>
                          </m:r>
                        </m:num>
                        <m:den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vi-V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vi-VN" sz="1800" i="1">
                          <a:latin typeface="Cambria Math" panose="02040503050406030204" pitchFamily="18" charset="0"/>
                        </a:rPr>
                        <m:t>121</m:t>
                      </m:r>
                      <m:r>
                        <a:rPr lang="vi-VN" sz="18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vi-VN" sz="1800" i="1">
                          <a:latin typeface="Cambria Math" panose="02040503050406030204" pitchFamily="18" charset="0"/>
                        </a:rPr>
                        <m:t>8</m:t>
                      </m:r>
                      <m:r>
                        <m:rPr>
                          <m:sty m:val="p"/>
                        </m:rPr>
                        <a:rPr lang="vi-VN" sz="1800" i="1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vi-VN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vi-VN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122</m:t>
                      </m:r>
                      <m:r>
                        <m:rPr>
                          <m:sty m:val="p"/>
                        </m:rPr>
                        <a:rPr lang="vi-VN" sz="1800" i="1">
                          <a:latin typeface="Cambria Math" panose="02040503050406030204" pitchFamily="18" charset="0"/>
                        </a:rPr>
                        <m:t>u</m:t>
                      </m:r>
                    </m:oMath>
                  </m:oMathPara>
                </a14:m>
                <a:endParaRPr lang="vi-VN" sz="1800" dirty="0"/>
              </a:p>
              <a:p>
                <a:endParaRPr lang="vi-VN" sz="1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vi-VN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vi-VN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  <m:sSub>
                        <m:sSubPr>
                          <m:ctrlP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vi-VN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vi-VN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ox</m:t>
                          </m:r>
                        </m:sub>
                      </m:sSub>
                      <m:r>
                        <a:rPr lang="vi-VN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vi-VN" sz="1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354</m:t>
                      </m:r>
                      <m:r>
                        <m:rPr>
                          <m:sty m:val="p"/>
                        </m:rPr>
                        <a:rPr lang="vi-VN" sz="1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u</m:t>
                      </m:r>
                    </m:oMath>
                  </m:oMathPara>
                </a14:m>
                <a:endParaRPr lang="vi-VN" sz="1800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vi-VN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vi-VN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sub>
                      </m:sSub>
                      <m:sSub>
                        <m:sSubPr>
                          <m:ctrlP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vi-VN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vi-VN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ox</m:t>
                          </m:r>
                        </m:sub>
                      </m:sSub>
                      <m:r>
                        <a:rPr lang="vi-VN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vi-VN" sz="1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122</m:t>
                      </m:r>
                      <m:r>
                        <m:rPr>
                          <m:sty m:val="p"/>
                        </m:rPr>
                        <a:rPr lang="vi-VN" sz="1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</m:oMath>
                  </m:oMathPara>
                </a14:m>
                <a:endParaRPr lang="vi-VN" sz="1800" dirty="0">
                  <a:solidFill>
                    <a:srgbClr val="FF0000"/>
                  </a:solidFill>
                </a:endParaRPr>
              </a:p>
              <a:p>
                <a:pPr algn="ctr"/>
                <a:r>
                  <a:rPr lang="vi-VN" sz="1800" dirty="0">
                    <a:solidFill>
                      <a:srgbClr val="FF0000"/>
                    </a:solidFill>
                  </a:rPr>
                  <a:t>Vthn = </a:t>
                </a:r>
                <a:r>
                  <a:rPr lang="vi-VN" sz="1800" dirty="0" err="1">
                    <a:solidFill>
                      <a:srgbClr val="FF0000"/>
                    </a:solidFill>
                  </a:rPr>
                  <a:t>Vthp</a:t>
                </a:r>
                <a:r>
                  <a:rPr lang="vi-VN" sz="1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18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vi-VN" sz="1800" dirty="0">
                    <a:solidFill>
                      <a:srgbClr val="FF0000"/>
                    </a:solidFill>
                  </a:rPr>
                  <a:t> 0.3V</a:t>
                </a:r>
                <a:endParaRPr lang="en-US" sz="1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Hộp Văn bản 10">
                <a:extLst>
                  <a:ext uri="{FF2B5EF4-FFF2-40B4-BE49-F238E27FC236}">
                    <a16:creationId xmlns:a16="http://schemas.microsoft.com/office/drawing/2014/main" id="{13238B7C-15D2-786F-0FE6-D5934CC293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171700"/>
                <a:ext cx="10972800" cy="2271391"/>
              </a:xfrm>
              <a:prstGeom prst="rect">
                <a:avLst/>
              </a:prstGeom>
              <a:blipFill>
                <a:blip r:embed="rId4"/>
                <a:stretch>
                  <a:fillRect b="-3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5397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92;p9">
            <a:extLst>
              <a:ext uri="{FF2B5EF4-FFF2-40B4-BE49-F238E27FC236}">
                <a16:creationId xmlns:a16="http://schemas.microsoft.com/office/drawing/2014/main" id="{7B89849F-1188-11E9-18AD-D4DE093A5D6E}"/>
              </a:ext>
            </a:extLst>
          </p:cNvPr>
          <p:cNvSpPr txBox="1">
            <a:spLocks/>
          </p:cNvSpPr>
          <p:nvPr/>
        </p:nvSpPr>
        <p:spPr>
          <a:xfrm>
            <a:off x="300853" y="90644"/>
            <a:ext cx="10492382" cy="381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/>
            <a:r>
              <a:rPr lang="vi-VN" sz="2800" dirty="0" err="1">
                <a:solidFill>
                  <a:srgbClr val="002060"/>
                </a:solidFill>
                <a:latin typeface="Arial Rounded MT Bold" panose="020F0704030504030204" pitchFamily="34" charset="0"/>
              </a:rPr>
              <a:t>Specification</a:t>
            </a:r>
            <a:r>
              <a:rPr lang="vi-VN" sz="2800" dirty="0">
                <a:solidFill>
                  <a:srgbClr val="002060"/>
                </a:solidFill>
                <a:latin typeface="Arial Rounded MT Bold" panose="020F0704030504030204" pitchFamily="34" charset="0"/>
              </a:rPr>
              <a:t> </a:t>
            </a:r>
            <a:r>
              <a:rPr lang="vi-VN" sz="2800" dirty="0" err="1">
                <a:solidFill>
                  <a:srgbClr val="002060"/>
                </a:solidFill>
                <a:latin typeface="Arial Rounded MT Bold" panose="020F0704030504030204" pitchFamily="34" charset="0"/>
              </a:rPr>
              <a:t>of</a:t>
            </a:r>
            <a:r>
              <a:rPr lang="vi-VN" sz="2800" dirty="0">
                <a:solidFill>
                  <a:srgbClr val="002060"/>
                </a:solidFill>
                <a:latin typeface="Arial Rounded MT Bold" panose="020F0704030504030204" pitchFamily="34" charset="0"/>
              </a:rPr>
              <a:t> </a:t>
            </a:r>
            <a:r>
              <a:rPr lang="vi-VN" sz="2800" dirty="0" err="1">
                <a:solidFill>
                  <a:srgbClr val="002060"/>
                </a:solidFill>
                <a:latin typeface="Arial Rounded MT Bold" panose="020F0704030504030204" pitchFamily="34" charset="0"/>
              </a:rPr>
              <a:t>OpAmp</a:t>
            </a:r>
            <a:endParaRPr lang="vi-VN" sz="2800" dirty="0">
              <a:solidFill>
                <a:srgbClr val="002060"/>
              </a:solidFill>
              <a:latin typeface="Arial Rounded MT Bold" panose="020F0704030504030204" pitchFamily="34" charset="0"/>
            </a:endParaRPr>
          </a:p>
        </p:txBody>
      </p:sp>
      <p:graphicFrame>
        <p:nvGraphicFramePr>
          <p:cNvPr id="5" name="Table 1">
            <a:extLst>
              <a:ext uri="{FF2B5EF4-FFF2-40B4-BE49-F238E27FC236}">
                <a16:creationId xmlns:a16="http://schemas.microsoft.com/office/drawing/2014/main" id="{D83E59B6-CE71-8FEB-26B5-6FC247C64A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3981639"/>
              </p:ext>
            </p:extLst>
          </p:nvPr>
        </p:nvGraphicFramePr>
        <p:xfrm>
          <a:off x="1423042" y="759116"/>
          <a:ext cx="9345915" cy="56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8178">
                  <a:extLst>
                    <a:ext uri="{9D8B030D-6E8A-4147-A177-3AD203B41FA5}">
                      <a16:colId xmlns:a16="http://schemas.microsoft.com/office/drawing/2014/main" val="2938940308"/>
                    </a:ext>
                  </a:extLst>
                </a:gridCol>
                <a:gridCol w="3822432">
                  <a:extLst>
                    <a:ext uri="{9D8B030D-6E8A-4147-A177-3AD203B41FA5}">
                      <a16:colId xmlns:a16="http://schemas.microsoft.com/office/drawing/2014/main" val="3232392250"/>
                    </a:ext>
                  </a:extLst>
                </a:gridCol>
                <a:gridCol w="3115305">
                  <a:extLst>
                    <a:ext uri="{9D8B030D-6E8A-4147-A177-3AD203B41FA5}">
                      <a16:colId xmlns:a16="http://schemas.microsoft.com/office/drawing/2014/main" val="2599210492"/>
                    </a:ext>
                  </a:extLst>
                </a:gridCol>
              </a:tblGrid>
              <a:tr h="91440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DESIGN PARAMETERS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SPECIFICATIONS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13447832"/>
                  </a:ext>
                </a:extLst>
              </a:tr>
              <a:tr h="91440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VDD</a:t>
                      </a: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</a:t>
                      </a:r>
                      <a:r>
                        <a:rPr lang="vi-VN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98022815"/>
                  </a:ext>
                </a:extLst>
              </a:tr>
              <a:tr h="91440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Output mode</a:t>
                      </a: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Single ended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74279621"/>
                  </a:ext>
                </a:extLst>
              </a:tr>
              <a:tr h="91440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Gain</a:t>
                      </a: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  <a:r>
                        <a:rPr lang="vi-VN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60</a:t>
                      </a: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dB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7601827"/>
                  </a:ext>
                </a:extLst>
              </a:tr>
              <a:tr h="91440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Pharse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Margin (PM)</a:t>
                      </a: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  <a:r>
                        <a:rPr lang="vi-VN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60</a:t>
                      </a: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degree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73330173"/>
                  </a:ext>
                </a:extLst>
              </a:tr>
              <a:tr h="91440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CMRR</a:t>
                      </a: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  <a:r>
                        <a:rPr lang="vi-VN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60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dB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72536094"/>
                  </a:ext>
                </a:extLst>
              </a:tr>
              <a:tr h="91440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Unity gain bandwidth</a:t>
                      </a: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</a:t>
                      </a:r>
                      <a:r>
                        <a:rPr lang="vi-VN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8</a:t>
                      </a:r>
                      <a:r>
                        <a:rPr lang="en-US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0MHz 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22877820"/>
                  </a:ext>
                </a:extLst>
              </a:tr>
              <a:tr h="91440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Power consumption</a:t>
                      </a: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 1mW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32267334"/>
                  </a:ext>
                </a:extLst>
              </a:tr>
              <a:tr h="91440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20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Slew</a:t>
                      </a:r>
                      <a:r>
                        <a:rPr lang="vi-VN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vi-VN" sz="20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rate</a:t>
                      </a:r>
                      <a:r>
                        <a:rPr lang="vi-VN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40V/</a:t>
                      </a:r>
                      <a:r>
                        <a:rPr lang="vi-VN" sz="20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us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66032986"/>
                  </a:ext>
                </a:extLst>
              </a:tr>
              <a:tr h="91440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20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Cap</a:t>
                      </a:r>
                      <a:r>
                        <a:rPr lang="vi-VN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vi-VN" sz="20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load</a:t>
                      </a:r>
                      <a:r>
                        <a:rPr lang="vi-VN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1pF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45246834"/>
                  </a:ext>
                </a:extLst>
              </a:tr>
              <a:tr h="91440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ICMR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vi-VN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- 1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06586930"/>
                  </a:ext>
                </a:extLst>
              </a:tr>
              <a:tr h="91440">
                <a:tc rowSpan="3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PVT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Process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 process of MOS 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36692936"/>
                  </a:ext>
                </a:extLst>
              </a:tr>
              <a:tr h="914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Voltage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2000" b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1.08V-1.32V</a:t>
                      </a:r>
                      <a:endParaRPr lang="en-US" sz="20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3761396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Temperature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2000" b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-40</a:t>
                      </a:r>
                      <a:r>
                        <a:rPr lang="en-US" sz="2000" b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˚C to </a:t>
                      </a:r>
                      <a:r>
                        <a:rPr lang="vi-VN" sz="2000" b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125</a:t>
                      </a:r>
                      <a:r>
                        <a:rPr lang="en-US" sz="2000" b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˚C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212436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9944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92;p9">
            <a:extLst>
              <a:ext uri="{FF2B5EF4-FFF2-40B4-BE49-F238E27FC236}">
                <a16:creationId xmlns:a16="http://schemas.microsoft.com/office/drawing/2014/main" id="{2E132DEF-B1EF-CFF0-2628-12280A5EA060}"/>
              </a:ext>
            </a:extLst>
          </p:cNvPr>
          <p:cNvSpPr txBox="1">
            <a:spLocks/>
          </p:cNvSpPr>
          <p:nvPr/>
        </p:nvSpPr>
        <p:spPr>
          <a:xfrm>
            <a:off x="300853" y="90644"/>
            <a:ext cx="10492382" cy="381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/>
            <a:r>
              <a:rPr lang="vi-VN" sz="2800" dirty="0" err="1">
                <a:solidFill>
                  <a:srgbClr val="002060"/>
                </a:solidFill>
                <a:latin typeface="Arial Rounded MT Bold" panose="020F0704030504030204" pitchFamily="34" charset="0"/>
              </a:rPr>
              <a:t>Schematic</a:t>
            </a:r>
            <a:endParaRPr lang="vi-VN" sz="2800" dirty="0">
              <a:solidFill>
                <a:srgbClr val="002060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7" name="Hình ảnh 6">
            <a:extLst>
              <a:ext uri="{FF2B5EF4-FFF2-40B4-BE49-F238E27FC236}">
                <a16:creationId xmlns:a16="http://schemas.microsoft.com/office/drawing/2014/main" id="{1F3B3288-A2D3-00FD-B162-D775B366B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9314" y="638881"/>
            <a:ext cx="6473371" cy="558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916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A0C82-FE49-02BC-5865-49E1C3E48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92;p9">
            <a:extLst>
              <a:ext uri="{FF2B5EF4-FFF2-40B4-BE49-F238E27FC236}">
                <a16:creationId xmlns:a16="http://schemas.microsoft.com/office/drawing/2014/main" id="{5FE06F0A-E508-2FD2-35AD-18D2701F9E1E}"/>
              </a:ext>
            </a:extLst>
          </p:cNvPr>
          <p:cNvSpPr txBox="1">
            <a:spLocks/>
          </p:cNvSpPr>
          <p:nvPr/>
        </p:nvSpPr>
        <p:spPr>
          <a:xfrm>
            <a:off x="300853" y="90644"/>
            <a:ext cx="10492382" cy="381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/>
            <a:r>
              <a:rPr lang="vi-VN" sz="2800" dirty="0" err="1">
                <a:solidFill>
                  <a:srgbClr val="002060"/>
                </a:solidFill>
                <a:latin typeface="Arial Rounded MT Bold" panose="020F0704030504030204" pitchFamily="34" charset="0"/>
              </a:rPr>
              <a:t>Design</a:t>
            </a:r>
            <a:r>
              <a:rPr lang="vi-VN" sz="2800" dirty="0">
                <a:solidFill>
                  <a:srgbClr val="002060"/>
                </a:solidFill>
                <a:latin typeface="Arial Rounded MT Bold" panose="020F0704030504030204" pitchFamily="34" charset="0"/>
              </a:rPr>
              <a:t> </a:t>
            </a:r>
            <a:r>
              <a:rPr lang="vi-VN" sz="2800" dirty="0" err="1">
                <a:solidFill>
                  <a:srgbClr val="002060"/>
                </a:solidFill>
                <a:latin typeface="Arial Rounded MT Bold" panose="020F0704030504030204" pitchFamily="34" charset="0"/>
              </a:rPr>
              <a:t>Procedure</a:t>
            </a:r>
            <a:endParaRPr lang="vi-VN" sz="2800" dirty="0">
              <a:solidFill>
                <a:srgbClr val="002060"/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Hộp Văn bản 1">
                <a:extLst>
                  <a:ext uri="{FF2B5EF4-FFF2-40B4-BE49-F238E27FC236}">
                    <a16:creationId xmlns:a16="http://schemas.microsoft.com/office/drawing/2014/main" id="{1C97379A-F90A-6A3D-80E1-2E67088B4B92}"/>
                  </a:ext>
                </a:extLst>
              </p:cNvPr>
              <p:cNvSpPr txBox="1"/>
              <p:nvPr/>
            </p:nvSpPr>
            <p:spPr>
              <a:xfrm>
                <a:off x="476250" y="866775"/>
                <a:ext cx="11220450" cy="36501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vi-VN" sz="1800" dirty="0">
                    <a:latin typeface="+mn-lt"/>
                  </a:rPr>
                  <a:t>1/ To </a:t>
                </a:r>
                <a:r>
                  <a:rPr lang="vi-VN" sz="1800" dirty="0" err="1">
                    <a:latin typeface="+mn-lt"/>
                  </a:rPr>
                  <a:t>have</a:t>
                </a:r>
                <a:r>
                  <a:rPr lang="vi-VN" sz="1800" dirty="0">
                    <a:latin typeface="+mn-lt"/>
                  </a:rPr>
                  <a:t> </a:t>
                </a:r>
                <a:r>
                  <a:rPr lang="vi-VN" sz="1800" dirty="0" err="1">
                    <a:latin typeface="+mn-lt"/>
                  </a:rPr>
                  <a:t>phase</a:t>
                </a:r>
                <a:r>
                  <a:rPr lang="vi-VN" sz="1800" dirty="0">
                    <a:latin typeface="+mn-lt"/>
                  </a:rPr>
                  <a:t> </a:t>
                </a:r>
                <a:r>
                  <a:rPr lang="vi-VN" sz="1800" dirty="0" err="1">
                    <a:latin typeface="+mn-lt"/>
                  </a:rPr>
                  <a:t>margin</a:t>
                </a:r>
                <a:r>
                  <a:rPr lang="vi-VN" sz="1800" dirty="0">
                    <a:latin typeface="+mn-lt"/>
                  </a:rPr>
                  <a:t> &gt; 60,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vi-VN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vi-VN" sz="1800" dirty="0">
                    <a:latin typeface="+mn-lt"/>
                  </a:rPr>
                  <a:t> 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sz="180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18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vi-VN" sz="1800" i="1">
                            <a:latin typeface="Cambria Math" panose="02040503050406030204" pitchFamily="18" charset="0"/>
                          </a:rPr>
                          <m:t>22</m:t>
                        </m:r>
                        <m:r>
                          <a:rPr lang="vi-VN" sz="18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L</m:t>
                        </m:r>
                      </m:sub>
                    </m:sSub>
                    <m:r>
                      <a:rPr lang="vi-VN" sz="18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vi-V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vi-VN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vi-VN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300</m:t>
                    </m:r>
                    <m:r>
                      <m:rPr>
                        <m:sty m:val="p"/>
                      </m:rPr>
                      <a:rPr lang="vi-VN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fF</m:t>
                    </m:r>
                  </m:oMath>
                </a14:m>
                <a:r>
                  <a:rPr lang="vi-VN" sz="1800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vi-VN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vi-VN" sz="1800" dirty="0">
                    <a:latin typeface="+mn-lt"/>
                  </a:rPr>
                  <a:t> = 400fF </a:t>
                </a:r>
              </a:p>
              <a:p>
                <a:pPr lvl="1"/>
                <a:r>
                  <a:rPr lang="vi-VN" sz="1800" dirty="0">
                    <a:latin typeface="+mn-lt"/>
                  </a:rPr>
                  <a:t>2/  </a:t>
                </a:r>
                <a:r>
                  <a:rPr lang="vi-VN" sz="1800" dirty="0" err="1"/>
                  <a:t>Slew</a:t>
                </a:r>
                <a:r>
                  <a:rPr lang="vi-VN" sz="1800" dirty="0"/>
                  <a:t> </a:t>
                </a:r>
                <a:r>
                  <a:rPr lang="vi-VN" sz="1800" dirty="0" err="1"/>
                  <a:t>rate</a:t>
                </a:r>
                <a:r>
                  <a:rPr lang="vi-VN" sz="1800" dirty="0"/>
                  <a:t> </a:t>
                </a:r>
                <a14:m>
                  <m:oMath xmlns:m="http://schemas.openxmlformats.org/officeDocument/2006/math">
                    <m:r>
                      <a:rPr lang="vi-VN" sz="1800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vi-VN" sz="1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vi-VN" sz="1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vi-VN" sz="18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vi-VN" sz="1800" i="1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vi-VN" sz="1800" i="1">
                                <a:latin typeface="Cambria Math" panose="02040503050406030204" pitchFamily="18" charset="0"/>
                              </a:rPr>
                              <m:t>v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vi-V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vi-VN" sz="1800" i="1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vi-VN" sz="1800" i="1"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den>
                    </m:f>
                    <m:r>
                      <a:rPr lang="vi-VN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vi-VN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vi-V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vi-VN" sz="1800" i="1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vi-VN" sz="1800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vi-V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vi-VN" sz="1800" i="1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lang="vi-VN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vi-VN" sz="1800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vi-VN" sz="1800" i="1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vi-VN" sz="1800" dirty="0"/>
                  <a:t>0V/</a:t>
                </a:r>
                <a:r>
                  <a:rPr lang="vi-VN" sz="1800" dirty="0" err="1"/>
                  <a:t>us</a:t>
                </a:r>
                <a:endParaRPr lang="vi-VN" sz="1800" dirty="0"/>
              </a:p>
              <a:p>
                <a:pPr lvl="7"/>
                <a14:m>
                  <m:oMath xmlns:m="http://schemas.openxmlformats.org/officeDocument/2006/math">
                    <m:r>
                      <a:rPr lang="vi-VN" sz="18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vi-VN" sz="1800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vi-VN" sz="1800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vi-VN" sz="1800" dirty="0"/>
                  <a:t>=SR*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vi-VN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vi-VN" sz="1800" dirty="0"/>
                  <a:t>= 40V/</a:t>
                </a:r>
                <a:r>
                  <a:rPr lang="vi-VN" sz="1800" dirty="0" err="1"/>
                  <a:t>us</a:t>
                </a:r>
                <a:r>
                  <a:rPr lang="vi-VN" sz="1800" dirty="0"/>
                  <a:t>*400fF= 16uA</a:t>
                </a:r>
              </a:p>
              <a:p>
                <a:pPr lvl="7"/>
                <a14:m>
                  <m:oMath xmlns:m="http://schemas.openxmlformats.org/officeDocument/2006/math">
                    <m:r>
                      <a:rPr lang="vi-VN" sz="180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vi-VN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1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vi-VN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vi-VN" sz="1800" dirty="0">
                    <a:solidFill>
                      <a:srgbClr val="FF0000"/>
                    </a:solidFill>
                  </a:rPr>
                  <a:t> = 20uA</a:t>
                </a:r>
                <a:endParaRPr lang="en-US" sz="1800" dirty="0">
                  <a:solidFill>
                    <a:srgbClr val="FF0000"/>
                  </a:solidFill>
                </a:endParaRPr>
              </a:p>
              <a:p>
                <a:r>
                  <a:rPr lang="vi-VN" sz="1800" dirty="0">
                    <a:latin typeface="+mn-lt"/>
                  </a:rPr>
                  <a:t>3/ </a:t>
                </a:r>
                <a:r>
                  <a:rPr lang="vi-VN" sz="1800" dirty="0" err="1">
                    <a:latin typeface="+mn-lt"/>
                  </a:rPr>
                  <a:t>Gain</a:t>
                </a:r>
                <a:r>
                  <a:rPr lang="vi-VN" sz="1800" dirty="0">
                    <a:latin typeface="+mn-lt"/>
                  </a:rPr>
                  <a:t> </a:t>
                </a:r>
                <a:r>
                  <a:rPr lang="vi-VN" sz="1800" dirty="0" err="1">
                    <a:latin typeface="+mn-lt"/>
                  </a:rPr>
                  <a:t>bandwidth</a:t>
                </a:r>
                <a:r>
                  <a:rPr lang="vi-VN" sz="1800" dirty="0">
                    <a:latin typeface="+mn-lt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vi-VN" sz="1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vi-VN" sz="1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vi-VN" sz="1800" i="1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vi-VN" sz="1800" i="1">
                                <a:latin typeface="Cambria Math" panose="02040503050406030204" pitchFamily="18" charset="0"/>
                              </a:rPr>
                              <m:t>m</m:t>
                            </m:r>
                            <m:r>
                              <a:rPr lang="vi-VN" sz="1800" i="1">
                                <a:latin typeface="Cambria Math" panose="02040503050406030204" pitchFamily="18" charset="0"/>
                              </a:rPr>
                              <m:t>1,2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vi-V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vi-VN" sz="1800" i="1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lang="vi-VN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endParaRPr lang="vi-VN" sz="1800" dirty="0">
                  <a:latin typeface="+mn-lt"/>
                </a:endParaRPr>
              </a:p>
              <a:p>
                <a14:m>
                  <m:oMath xmlns:m="http://schemas.openxmlformats.org/officeDocument/2006/math">
                    <m:r>
                      <a:rPr lang="vi-VN" sz="180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vi-VN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vi-VN" sz="1800" i="1">
                            <a:latin typeface="Cambria Math" panose="02040503050406030204" pitchFamily="18" charset="0"/>
                          </a:rPr>
                          <m:t>1,2</m:t>
                        </m:r>
                      </m:sub>
                    </m:sSub>
                  </m:oMath>
                </a14:m>
                <a:r>
                  <a:rPr lang="vi-VN" sz="1800" dirty="0">
                    <a:latin typeface="+mn-lt"/>
                  </a:rPr>
                  <a:t>=GB</a:t>
                </a:r>
                <a14:m>
                  <m:oMath xmlns:m="http://schemas.openxmlformats.org/officeDocument/2006/math">
                    <m:r>
                      <a:rPr lang="vi-VN" sz="1800" b="0" i="1" smtClean="0">
                        <a:latin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vi-VN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vi-VN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vi-VN" sz="1800" dirty="0"/>
                      <m:t>∗</m:t>
                    </m:r>
                    <m:r>
                      <a:rPr lang="vi-VN" sz="1800" i="1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vi-VN" sz="1800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vi-VN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vi-VN" sz="1800" i="1"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vi-VN" sz="1800" i="1">
                        <a:latin typeface="Cambria Math" panose="02040503050406030204" pitchFamily="18" charset="0"/>
                      </a:rPr>
                      <m:t>MHz</m:t>
                    </m:r>
                  </m:oMath>
                </a14:m>
                <a:r>
                  <a:rPr lang="vi-VN" sz="1800" dirty="0">
                    <a:latin typeface="+mn-lt"/>
                  </a:rPr>
                  <a:t> * 400fF * </a:t>
                </a:r>
                <a14:m>
                  <m:oMath xmlns:m="http://schemas.openxmlformats.org/officeDocument/2006/math">
                    <m:r>
                      <a:rPr lang="vi-VN" sz="1800" i="1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vi-VN" sz="1800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vi-VN" sz="18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vi-VN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251</m:t>
                    </m:r>
                  </m:oMath>
                </a14:m>
                <a:r>
                  <a:rPr lang="vi-VN" sz="1800" dirty="0">
                    <a:latin typeface="+mn-lt"/>
                  </a:rPr>
                  <a:t>.32u</a:t>
                </a:r>
              </a:p>
              <a:p>
                <a14:m>
                  <m:oMath xmlns:m="http://schemas.openxmlformats.org/officeDocument/2006/math">
                    <m:r>
                      <a:rPr lang="vi-VN" sz="180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vi-VN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vi-VN" sz="1800" i="1">
                            <a:latin typeface="Cambria Math" panose="02040503050406030204" pitchFamily="18" charset="0"/>
                          </a:rPr>
                          <m:t>1,2</m:t>
                        </m:r>
                      </m:sub>
                    </m:sSub>
                  </m:oMath>
                </a14:m>
                <a:r>
                  <a:rPr lang="vi-VN" sz="1800" dirty="0">
                    <a:latin typeface="+mn-lt"/>
                  </a:rPr>
                  <a:t> = 260u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1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vi-V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den>
                          </m:f>
                          <m:r>
                            <a:rPr lang="vi-VN" sz="1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vi-VN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vi-V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vi-VN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vi-V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vi-V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vi-VN" sz="1800" i="1">
                                      <a:latin typeface="Cambria Math" panose="02040503050406030204" pitchFamily="18" charset="0"/>
                                    </a:rPr>
                                    <m:t>g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vi-VN" sz="1800" i="1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  <m:r>
                                    <a:rPr lang="vi-VN" sz="1800" i="1">
                                      <a:latin typeface="Cambria Math" panose="02040503050406030204" pitchFamily="18" charset="0"/>
                                    </a:rPr>
                                    <m:t>1,2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vi-VN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ox</m:t>
                              </m:r>
                            </m:sub>
                          </m:sSub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vi-V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a:rPr lang="vi-VN" sz="1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vi-VN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vi-VN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vi-V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vi-VN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vi-VN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vi-V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vi-VN" sz="1800" i="1">
                                      <a:latin typeface="Cambria Math" panose="02040503050406030204" pitchFamily="18" charset="0"/>
                                    </a:rPr>
                                    <m:t>g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vi-VN" sz="1800" i="1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  <m:r>
                                    <a:rPr lang="vi-VN" sz="1800" i="1">
                                      <a:latin typeface="Cambria Math" panose="02040503050406030204" pitchFamily="18" charset="0"/>
                                    </a:rPr>
                                    <m:t>1,2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vi-VN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ox</m:t>
                              </m:r>
                            </m:sub>
                          </m:sSub>
                          <m:sSub>
                            <m:sSubPr>
                              <m:ctrlPr>
                                <a:rPr lang="vi-V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a:rPr lang="vi-VN" sz="18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den>
                      </m:f>
                      <m:r>
                        <a:rPr lang="vi-V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vi-VN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vi-V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vi-VN" sz="1800" i="1">
                                  <a:latin typeface="Cambria Math" panose="02040503050406030204" pitchFamily="18" charset="0"/>
                                </a:rPr>
                                <m:t>260</m:t>
                              </m:r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p>
                              <m:r>
                                <a:rPr lang="vi-VN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354</m:t>
                          </m:r>
                          <m:r>
                            <m:rPr>
                              <m:sty m:val="p"/>
                            </m:rPr>
                            <a:rPr lang="vi-VN" sz="1800" i="1">
                              <a:latin typeface="Cambria Math" panose="02040503050406030204" pitchFamily="18" charset="0"/>
                            </a:rPr>
                            <m:t>u</m:t>
                          </m:r>
                          <m:r>
                            <a:rPr lang="vi-VN" sz="18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20</m:t>
                          </m:r>
                          <m:r>
                            <m:rPr>
                              <m:sty m:val="p"/>
                            </m:rPr>
                            <a:rPr lang="vi-VN" sz="1800" i="1">
                              <a:latin typeface="Cambria Math" panose="02040503050406030204" pitchFamily="18" charset="0"/>
                            </a:rPr>
                            <m:t>u</m:t>
                          </m:r>
                        </m:den>
                      </m:f>
                      <m:r>
                        <a:rPr lang="vi-VN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vi-VN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</m:t>
                      </m:r>
                      <m:r>
                        <a:rPr lang="vi-VN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vi-VN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vi-VN" sz="1800" dirty="0">
                  <a:latin typeface="+mn-lt"/>
                </a:endParaRPr>
              </a:p>
              <a:p>
                <a14:m>
                  <m:oMath xmlns:m="http://schemas.openxmlformats.org/officeDocument/2006/math">
                    <m:r>
                      <a:rPr lang="vi-VN" sz="180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vi-VN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vi-VN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vi-VN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L</m:t>
                            </m:r>
                          </m:den>
                        </m:f>
                        <m:r>
                          <a:rPr lang="vi-VN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vi-VN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1,2</m:t>
                        </m:r>
                      </m:sub>
                    </m:sSub>
                  </m:oMath>
                </a14:m>
                <a:r>
                  <a:rPr lang="vi-VN" sz="1800" dirty="0">
                    <a:solidFill>
                      <a:srgbClr val="FF0000"/>
                    </a:solidFill>
                    <a:latin typeface="+mn-lt"/>
                  </a:rPr>
                  <a:t>=10</a:t>
                </a:r>
              </a:p>
              <a:p>
                <a:endParaRPr lang="en-US" sz="1800" dirty="0">
                  <a:solidFill>
                    <a:schemeClr val="tx1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2" name="Hộp Văn bản 1">
                <a:extLst>
                  <a:ext uri="{FF2B5EF4-FFF2-40B4-BE49-F238E27FC236}">
                    <a16:creationId xmlns:a16="http://schemas.microsoft.com/office/drawing/2014/main" id="{1C97379A-F90A-6A3D-80E1-2E67088B4B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250" y="866775"/>
                <a:ext cx="11220450" cy="3650166"/>
              </a:xfrm>
              <a:prstGeom prst="rect">
                <a:avLst/>
              </a:prstGeom>
              <a:blipFill>
                <a:blip r:embed="rId2"/>
                <a:stretch>
                  <a:fillRect l="-435" t="-8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5994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1987E-5E19-E958-0211-A03F88801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92;p9">
            <a:extLst>
              <a:ext uri="{FF2B5EF4-FFF2-40B4-BE49-F238E27FC236}">
                <a16:creationId xmlns:a16="http://schemas.microsoft.com/office/drawing/2014/main" id="{B4F888AE-D30A-5E24-4D87-526AC1F83120}"/>
              </a:ext>
            </a:extLst>
          </p:cNvPr>
          <p:cNvSpPr txBox="1">
            <a:spLocks/>
          </p:cNvSpPr>
          <p:nvPr/>
        </p:nvSpPr>
        <p:spPr>
          <a:xfrm>
            <a:off x="300853" y="90644"/>
            <a:ext cx="10492382" cy="381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/>
            <a:r>
              <a:rPr lang="vi-VN" sz="2800" dirty="0" err="1">
                <a:solidFill>
                  <a:srgbClr val="002060"/>
                </a:solidFill>
                <a:latin typeface="Arial Rounded MT Bold" panose="020F0704030504030204" pitchFamily="34" charset="0"/>
              </a:rPr>
              <a:t>Design</a:t>
            </a:r>
            <a:r>
              <a:rPr lang="vi-VN" sz="2800" dirty="0">
                <a:solidFill>
                  <a:srgbClr val="002060"/>
                </a:solidFill>
                <a:latin typeface="Arial Rounded MT Bold" panose="020F0704030504030204" pitchFamily="34" charset="0"/>
              </a:rPr>
              <a:t> </a:t>
            </a:r>
            <a:r>
              <a:rPr lang="vi-VN" sz="2800" dirty="0" err="1">
                <a:solidFill>
                  <a:srgbClr val="002060"/>
                </a:solidFill>
                <a:latin typeface="Arial Rounded MT Bold" panose="020F0704030504030204" pitchFamily="34" charset="0"/>
              </a:rPr>
              <a:t>Procedure</a:t>
            </a:r>
            <a:r>
              <a:rPr lang="vi-VN" sz="2800" dirty="0">
                <a:solidFill>
                  <a:srgbClr val="002060"/>
                </a:solidFill>
                <a:latin typeface="Arial Rounded MT Bold" panose="020F0704030504030204" pitchFamily="34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Hộp Văn bản 1">
                <a:extLst>
                  <a:ext uri="{FF2B5EF4-FFF2-40B4-BE49-F238E27FC236}">
                    <a16:creationId xmlns:a16="http://schemas.microsoft.com/office/drawing/2014/main" id="{7E9CF184-5ECE-BC61-D0BB-29210E7A3F9E}"/>
                  </a:ext>
                </a:extLst>
              </p:cNvPr>
              <p:cNvSpPr txBox="1"/>
              <p:nvPr/>
            </p:nvSpPr>
            <p:spPr>
              <a:xfrm>
                <a:off x="476250" y="866775"/>
                <a:ext cx="5080018" cy="57699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vi-VN" sz="1800" dirty="0">
                    <a:latin typeface="+mn-lt"/>
                  </a:rPr>
                  <a:t>Find </a:t>
                </a:r>
                <a:r>
                  <a:rPr lang="vi-VN" sz="1800" dirty="0" err="1">
                    <a:latin typeface="+mn-lt"/>
                  </a:rPr>
                  <a:t>Vth</a:t>
                </a:r>
                <a:r>
                  <a:rPr lang="vi-VN" sz="1800" dirty="0">
                    <a:latin typeface="+mn-lt"/>
                  </a:rPr>
                  <a:t> min </a:t>
                </a:r>
                <a:r>
                  <a:rPr lang="vi-VN" sz="1800" dirty="0" err="1">
                    <a:latin typeface="+mn-lt"/>
                  </a:rPr>
                  <a:t>max</a:t>
                </a:r>
                <a:r>
                  <a:rPr lang="vi-VN" sz="1800" dirty="0">
                    <a:latin typeface="+mn-lt"/>
                  </a:rPr>
                  <a:t> </a:t>
                </a:r>
                <a:r>
                  <a:rPr lang="vi-VN" sz="1800" dirty="0" err="1">
                    <a:latin typeface="+mn-lt"/>
                  </a:rPr>
                  <a:t>depend</a:t>
                </a:r>
                <a:r>
                  <a:rPr lang="vi-VN" sz="1800" dirty="0">
                    <a:latin typeface="+mn-lt"/>
                  </a:rPr>
                  <a:t> </a:t>
                </a:r>
                <a:r>
                  <a:rPr lang="vi-VN" sz="1800" dirty="0" err="1">
                    <a:latin typeface="+mn-lt"/>
                  </a:rPr>
                  <a:t>on</a:t>
                </a:r>
                <a:r>
                  <a:rPr lang="vi-VN" sz="1800" dirty="0">
                    <a:latin typeface="+mn-lt"/>
                  </a:rPr>
                  <a:t> ICMR,</a:t>
                </a:r>
              </a:p>
              <a:p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I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use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this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schematic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to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simulate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how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VTh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change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when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input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voltage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change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.</a:t>
                </a:r>
              </a:p>
              <a:p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With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that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we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can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find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Vthmin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and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Vthmax</a:t>
                </a:r>
                <a:endParaRPr lang="vi-VN" sz="1800" dirty="0">
                  <a:solidFill>
                    <a:schemeClr val="tx1"/>
                  </a:solidFill>
                  <a:latin typeface="+mn-lt"/>
                </a:endParaRPr>
              </a:p>
              <a:p>
                <a:endParaRPr lang="vi-VN" sz="1800" dirty="0">
                  <a:solidFill>
                    <a:schemeClr val="tx1"/>
                  </a:solidFill>
                  <a:latin typeface="+mn-lt"/>
                </a:endParaRPr>
              </a:p>
              <a:p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When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Input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voltage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0.</a:t>
                </a:r>
                <a:r>
                  <a:rPr lang="en-US" sz="1800" dirty="0">
                    <a:solidFill>
                      <a:schemeClr val="tx1"/>
                    </a:solidFill>
                    <a:latin typeface="+mn-lt"/>
                  </a:rPr>
                  <a:t>6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:</a:t>
                </a:r>
              </a:p>
              <a:p>
                <a:endParaRPr lang="vi-VN" sz="1800" dirty="0">
                  <a:solidFill>
                    <a:schemeClr val="tx1"/>
                  </a:solidFill>
                  <a:latin typeface="+mn-lt"/>
                </a:endParaRPr>
              </a:p>
              <a:p>
                <a:endParaRPr lang="vi-VN" sz="1800" dirty="0">
                  <a:solidFill>
                    <a:schemeClr val="tx1"/>
                  </a:solidFill>
                  <a:latin typeface="+mn-lt"/>
                </a:endParaRPr>
              </a:p>
              <a:p>
                <a:endParaRPr lang="vi-VN" sz="1800" dirty="0">
                  <a:solidFill>
                    <a:schemeClr val="tx1"/>
                  </a:solidFill>
                  <a:latin typeface="+mn-lt"/>
                </a:endParaRPr>
              </a:p>
              <a:p>
                <a:endParaRPr lang="vi-VN" sz="1800" dirty="0">
                  <a:solidFill>
                    <a:schemeClr val="tx1"/>
                  </a:solidFill>
                  <a:latin typeface="+mn-lt"/>
                </a:endParaRPr>
              </a:p>
              <a:p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When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Input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voltage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1:</a:t>
                </a:r>
              </a:p>
              <a:p>
                <a:endParaRPr lang="vi-VN" sz="1800" dirty="0">
                  <a:solidFill>
                    <a:schemeClr val="tx1"/>
                  </a:solidFill>
                  <a:latin typeface="+mn-lt"/>
                </a:endParaRPr>
              </a:p>
              <a:p>
                <a:endParaRPr lang="vi-VN" sz="1800" dirty="0">
                  <a:solidFill>
                    <a:schemeClr val="tx1"/>
                  </a:solidFill>
                  <a:latin typeface="+mn-lt"/>
                </a:endParaRPr>
              </a:p>
              <a:p>
                <a:endParaRPr lang="vi-VN" sz="1800" dirty="0">
                  <a:solidFill>
                    <a:schemeClr val="tx1"/>
                  </a:solidFill>
                  <a:latin typeface="+mn-lt"/>
                </a:endParaRPr>
              </a:p>
              <a:p>
                <a:endParaRPr lang="vi-VN" sz="1800" dirty="0">
                  <a:solidFill>
                    <a:schemeClr val="tx1"/>
                  </a:solidFill>
                  <a:latin typeface="+mn-lt"/>
                </a:endParaRPr>
              </a:p>
              <a:p>
                <a:endParaRPr lang="vi-VN" sz="1800" dirty="0">
                  <a:solidFill>
                    <a:schemeClr val="tx1"/>
                  </a:solidFill>
                  <a:latin typeface="+mn-lt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vi-V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thn</m:t>
                              </m:r>
                              <m:r>
                                <a:rPr lang="vi-VN" sz="1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b>
                          <m:r>
                            <m:rPr>
                              <m:sty m:val="p"/>
                            </m:rPr>
                            <a:rPr lang="vi-VN" sz="1800" i="1">
                              <a:latin typeface="Cambria Math" panose="02040503050406030204" pitchFamily="18" charset="0"/>
                            </a:rPr>
                            <m:t>min</m:t>
                          </m:r>
                        </m:sub>
                      </m:sSub>
                      <m:r>
                        <a:rPr lang="vi-V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vi-VN" sz="1800" i="1">
                          <a:latin typeface="Cambria Math" panose="02040503050406030204" pitchFamily="18" charset="0"/>
                        </a:rPr>
                        <m:t>304</m:t>
                      </m:r>
                      <m:r>
                        <a:rPr lang="vi-VN" sz="18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vi-VN" sz="1800" i="1">
                          <a:latin typeface="Cambria Math" panose="02040503050406030204" pitchFamily="18" charset="0"/>
                        </a:rPr>
                        <m:t>4</m:t>
                      </m:r>
                      <m:r>
                        <m:rPr>
                          <m:sty m:val="p"/>
                        </m:rPr>
                        <a:rPr lang="vi-VN" sz="1800" i="1"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vi-VN" sz="18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vi-VN" sz="1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305</m:t>
                      </m:r>
                      <m:r>
                        <m:rPr>
                          <m:sty m:val="p"/>
                        </m:rPr>
                        <a:rPr lang="vi-VN" sz="1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mV</m:t>
                      </m:r>
                    </m:oMath>
                  </m:oMathPara>
                </a14:m>
                <a:endParaRPr lang="vi-VN" sz="1800" dirty="0">
                  <a:solidFill>
                    <a:schemeClr val="tx1"/>
                  </a:solidFill>
                  <a:latin typeface="+mn-lt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vi-V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vi-V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vi-VN" sz="1800" i="1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vi-VN" sz="1800" i="1">
                                <a:latin typeface="Cambria Math" panose="02040503050406030204" pitchFamily="18" charset="0"/>
                              </a:rPr>
                              <m:t>thn</m:t>
                            </m:r>
                            <m:r>
                              <a:rPr lang="vi-VN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sub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a:rPr lang="vi-VN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vi-VN" sz="1800" i="1">
                        <a:latin typeface="Cambria Math" panose="02040503050406030204" pitchFamily="18" charset="0"/>
                      </a:rPr>
                      <m:t>374</m:t>
                    </m:r>
                  </m:oMath>
                </a14:m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.3m </a:t>
                </a:r>
                <a14:m>
                  <m:oMath xmlns:m="http://schemas.openxmlformats.org/officeDocument/2006/math">
                    <m:r>
                      <a:rPr lang="vi-VN" sz="18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vi-VN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375</m:t>
                    </m:r>
                    <m:r>
                      <m:rPr>
                        <m:sty m:val="p"/>
                      </m:rPr>
                      <a:rPr lang="vi-V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mV</m:t>
                    </m:r>
                  </m:oMath>
                </a14:m>
                <a:endParaRPr lang="vi-VN" sz="1800" dirty="0">
                  <a:solidFill>
                    <a:schemeClr val="tx1"/>
                  </a:solidFill>
                  <a:latin typeface="+mn-lt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vi-V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vi-VN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vi-VN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vi-VN" sz="1800" i="1"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vi-VN" sz="1800" i="1">
                                    <a:latin typeface="Cambria Math" panose="02040503050406030204" pitchFamily="18" charset="0"/>
                                  </a:rPr>
                                  <m:t>thp</m:t>
                                </m:r>
                                <m:r>
                                  <a:rPr lang="vi-VN" sz="18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a:rPr lang="vi-VN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vi-VN" sz="1800" i="1">
                        <a:latin typeface="Cambria Math" panose="02040503050406030204" pitchFamily="18" charset="0"/>
                      </a:rPr>
                      <m:t>293</m:t>
                    </m:r>
                  </m:oMath>
                </a14:m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.4m</a:t>
                </a:r>
                <a:r>
                  <a:rPr lang="vi-VN" sz="18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vi-VN" sz="18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vi-V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294</m:t>
                    </m:r>
                    <m:r>
                      <m:rPr>
                        <m:sty m:val="p"/>
                      </m:rPr>
                      <a:rPr lang="vi-V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mV</m:t>
                    </m:r>
                  </m:oMath>
                </a14:m>
                <a:endParaRPr lang="vi-VN" sz="1800" dirty="0">
                  <a:solidFill>
                    <a:schemeClr val="tx1"/>
                  </a:solidFill>
                  <a:latin typeface="+mn-lt"/>
                </a:endParaRPr>
              </a:p>
              <a:p>
                <a:endParaRPr lang="en-US" sz="1800" dirty="0">
                  <a:solidFill>
                    <a:schemeClr val="tx1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2" name="Hộp Văn bản 1">
                <a:extLst>
                  <a:ext uri="{FF2B5EF4-FFF2-40B4-BE49-F238E27FC236}">
                    <a16:creationId xmlns:a16="http://schemas.microsoft.com/office/drawing/2014/main" id="{7E9CF184-5ECE-BC61-D0BB-29210E7A3F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250" y="866775"/>
                <a:ext cx="5080018" cy="5769913"/>
              </a:xfrm>
              <a:prstGeom prst="rect">
                <a:avLst/>
              </a:prstGeom>
              <a:blipFill>
                <a:blip r:embed="rId2"/>
                <a:stretch>
                  <a:fillRect l="-960" t="-5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Hình ảnh 3">
            <a:extLst>
              <a:ext uri="{FF2B5EF4-FFF2-40B4-BE49-F238E27FC236}">
                <a16:creationId xmlns:a16="http://schemas.microsoft.com/office/drawing/2014/main" id="{137E791F-BD75-075F-0DB3-629930333A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6268" y="695325"/>
            <a:ext cx="6159482" cy="5667796"/>
          </a:xfrm>
          <a:prstGeom prst="rect">
            <a:avLst/>
          </a:prstGeom>
        </p:spPr>
      </p:pic>
      <p:pic>
        <p:nvPicPr>
          <p:cNvPr id="7" name="Hình ảnh 6">
            <a:extLst>
              <a:ext uri="{FF2B5EF4-FFF2-40B4-BE49-F238E27FC236}">
                <a16:creationId xmlns:a16="http://schemas.microsoft.com/office/drawing/2014/main" id="{3008C545-DA17-7E5E-5BCB-57042AAE2B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9040" y="2681380"/>
            <a:ext cx="2648320" cy="847843"/>
          </a:xfrm>
          <a:prstGeom prst="rect">
            <a:avLst/>
          </a:prstGeom>
        </p:spPr>
      </p:pic>
      <p:pic>
        <p:nvPicPr>
          <p:cNvPr id="10" name="Hình ảnh 9">
            <a:extLst>
              <a:ext uri="{FF2B5EF4-FFF2-40B4-BE49-F238E27FC236}">
                <a16:creationId xmlns:a16="http://schemas.microsoft.com/office/drawing/2014/main" id="{946F0108-C708-3D0E-1A92-E553E4BD3E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9040" y="4071882"/>
            <a:ext cx="2581635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2026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7ADC5-A27A-734F-5B46-C25C2D034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92;p9">
            <a:extLst>
              <a:ext uri="{FF2B5EF4-FFF2-40B4-BE49-F238E27FC236}">
                <a16:creationId xmlns:a16="http://schemas.microsoft.com/office/drawing/2014/main" id="{BFD06BA5-2BBF-0236-4FBF-AC19E4405E40}"/>
              </a:ext>
            </a:extLst>
          </p:cNvPr>
          <p:cNvSpPr txBox="1">
            <a:spLocks/>
          </p:cNvSpPr>
          <p:nvPr/>
        </p:nvSpPr>
        <p:spPr>
          <a:xfrm>
            <a:off x="300853" y="90644"/>
            <a:ext cx="10492382" cy="381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/>
            <a:r>
              <a:rPr lang="vi-VN" sz="2800" dirty="0" err="1">
                <a:solidFill>
                  <a:srgbClr val="002060"/>
                </a:solidFill>
                <a:latin typeface="Arial Rounded MT Bold" panose="020F0704030504030204" pitchFamily="34" charset="0"/>
              </a:rPr>
              <a:t>Design</a:t>
            </a:r>
            <a:r>
              <a:rPr lang="vi-VN" sz="2800" dirty="0">
                <a:solidFill>
                  <a:srgbClr val="002060"/>
                </a:solidFill>
                <a:latin typeface="Arial Rounded MT Bold" panose="020F0704030504030204" pitchFamily="34" charset="0"/>
              </a:rPr>
              <a:t> </a:t>
            </a:r>
            <a:r>
              <a:rPr lang="vi-VN" sz="2800" dirty="0" err="1">
                <a:solidFill>
                  <a:srgbClr val="002060"/>
                </a:solidFill>
                <a:latin typeface="Arial Rounded MT Bold" panose="020F0704030504030204" pitchFamily="34" charset="0"/>
              </a:rPr>
              <a:t>Procedure</a:t>
            </a:r>
            <a:endParaRPr lang="vi-VN" sz="2800" dirty="0">
              <a:solidFill>
                <a:srgbClr val="002060"/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Hộp Văn bản 1">
                <a:extLst>
                  <a:ext uri="{FF2B5EF4-FFF2-40B4-BE49-F238E27FC236}">
                    <a16:creationId xmlns:a16="http://schemas.microsoft.com/office/drawing/2014/main" id="{AB476593-CB2B-3776-CC4D-578F589DB0A7}"/>
                  </a:ext>
                </a:extLst>
              </p:cNvPr>
              <p:cNvSpPr txBox="1"/>
              <p:nvPr/>
            </p:nvSpPr>
            <p:spPr>
              <a:xfrm>
                <a:off x="325430" y="614362"/>
                <a:ext cx="11220450" cy="5679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vi-VN" sz="1800" dirty="0">
                    <a:latin typeface="+mn-lt"/>
                  </a:rPr>
                  <a:t>4/ ICMR + (1V)</a:t>
                </a:r>
              </a:p>
              <a:p>
                <a:r>
                  <a:rPr lang="vi-VN" sz="1800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vi-VN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vi-V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 sz="1800" i="1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vi-VN" sz="1800" i="1" smtClean="0">
                            <a:latin typeface="Cambria Math" panose="02040503050406030204" pitchFamily="18" charset="0"/>
                          </a:rPr>
                          <m:t>G</m:t>
                        </m:r>
                        <m:r>
                          <a:rPr lang="vi-VN" sz="180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-</a:t>
                </a:r>
                <a:r>
                  <a:rPr lang="vi-VN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 sz="1800" i="1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vi-VN" sz="1800" i="1" smtClean="0">
                            <a:latin typeface="Cambria Math" panose="02040503050406030204" pitchFamily="18" charset="0"/>
                          </a:rPr>
                          <m:t>thn</m:t>
                        </m:r>
                        <m:r>
                          <a:rPr lang="vi-VN" sz="180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vi-VN" sz="1800" dirty="0">
                  <a:solidFill>
                    <a:schemeClr val="tx1"/>
                  </a:solidFill>
                  <a:latin typeface="+mn-lt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vi-VN" sz="1800" i="1" smtClean="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vi-VN" sz="1800" i="1" smtClean="0">
                              <a:latin typeface="Cambria Math" panose="02040503050406030204" pitchFamily="18" charset="0"/>
                            </a:rPr>
                            <m:t>G</m:t>
                          </m:r>
                          <m:r>
                            <a:rPr lang="vi-VN" sz="18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vi-VN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vi-VN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vi-VN" sz="1800" i="1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vi-VN" sz="1800" i="1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vi-VN" sz="1800" b="0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vi-VN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vi-VN" sz="1800" i="1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vi-VN" sz="1800" i="1" smtClean="0">
                              <a:latin typeface="Cambria Math" panose="02040503050406030204" pitchFamily="18" charset="0"/>
                            </a:rPr>
                            <m:t>thn</m:t>
                          </m:r>
                          <m:r>
                            <a:rPr lang="vi-VN" sz="18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vi-VN" sz="1800" dirty="0">
                  <a:solidFill>
                    <a:schemeClr val="tx1"/>
                  </a:solidFill>
                  <a:latin typeface="+mn-lt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vi-VN" sz="1800" i="1" smtClean="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vi-VN" sz="1800" i="1">
                              <a:latin typeface="Cambria Math" panose="02040503050406030204" pitchFamily="18" charset="0"/>
                            </a:rPr>
                            <m:t>IN</m:t>
                          </m:r>
                        </m:sub>
                      </m:sSub>
                      <m:r>
                        <a:rPr lang="vi-VN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vi-VN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vi-VN" sz="1800" i="1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vi-VN" sz="1800" i="1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vi-VN" sz="18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vi-VN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vi-VN" sz="1800" i="1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vi-VN" sz="1800" i="1">
                              <a:latin typeface="Cambria Math" panose="02040503050406030204" pitchFamily="18" charset="0"/>
                            </a:rPr>
                            <m:t>thn</m:t>
                          </m:r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vi-VN" sz="1800" dirty="0">
                  <a:solidFill>
                    <a:schemeClr val="tx1"/>
                  </a:solidFill>
                  <a:latin typeface="+mn-lt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vi-V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 sz="1800" i="1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IN</m:t>
                        </m:r>
                        <m:r>
                          <a:rPr lang="vi-VN" sz="1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a:rPr lang="vi-VN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vi-V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vi-V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vi-VN" sz="18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vi-VN" sz="1800" i="1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vi-VN" sz="1800" i="1">
                                <a:latin typeface="Cambria Math" panose="02040503050406030204" pitchFamily="18" charset="0"/>
                              </a:rPr>
                              <m:t>D</m:t>
                            </m:r>
                            <m:r>
                              <a:rPr lang="vi-VN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vi-VN" sz="180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vi-V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vi-VN" sz="1800" i="1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vi-VN" sz="1800" i="1">
                                <a:latin typeface="Cambria Math" panose="02040503050406030204" pitchFamily="18" charset="0"/>
                              </a:rPr>
                              <m:t>thn</m:t>
                            </m:r>
                            <m:r>
                              <a:rPr lang="vi-VN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vi-VN" sz="180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</m:oMath>
                </a14:m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(1)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vi-VN" sz="1800" i="1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vi-VN" sz="1800" i="1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vi-VN" sz="1800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vi-VN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vi-VN" sz="1800" i="1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vi-VN" sz="1800" i="1">
                              <a:latin typeface="Cambria Math" panose="02040503050406030204" pitchFamily="18" charset="0"/>
                            </a:rPr>
                            <m:t>G</m:t>
                          </m:r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vi-V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vi-VN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vi-VN" sz="1800" i="1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vi-VN" sz="1800" i="1">
                              <a:latin typeface="Cambria Math" panose="02040503050406030204" pitchFamily="18" charset="0"/>
                            </a:rPr>
                            <m:t>DD</m:t>
                          </m:r>
                        </m:sub>
                      </m:sSub>
                      <m:r>
                        <a:rPr lang="vi-VN" sz="18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vi-VN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vi-VN" sz="1800" i="1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vi-VN" sz="1800" i="1">
                              <a:latin typeface="Cambria Math" panose="02040503050406030204" pitchFamily="18" charset="0"/>
                            </a:rPr>
                            <m:t>SG</m:t>
                          </m:r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vi-VN" sz="1800" dirty="0">
                  <a:latin typeface="+mn-lt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vi-VN" sz="1800" i="1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vi-V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vi-VN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ox</m:t>
                              </m:r>
                            </m:sub>
                          </m:sSub>
                        </m:num>
                        <m:den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vi-VN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den>
                          </m:f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3,4</m:t>
                          </m:r>
                        </m:sub>
                      </m:sSub>
                      <m:sSup>
                        <m:sSupPr>
                          <m:ctrlPr>
                            <a:rPr lang="vi-VN" sz="1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vi-VN" sz="1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vi-V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GS</m:t>
                              </m:r>
                              <m:r>
                                <a:rPr lang="vi-VN" sz="18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vi-VN" sz="1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vi-V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vi-VN" sz="1800" i="1">
                                      <a:latin typeface="Cambria Math" panose="02040503050406030204" pitchFamily="18" charset="0"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vi-VN" sz="1800" i="1">
                                      <a:latin typeface="Cambria Math" panose="02040503050406030204" pitchFamily="18" charset="0"/>
                                    </a:rPr>
                                    <m:t>thp</m:t>
                                  </m:r>
                                  <m:r>
                                    <a:rPr lang="vi-VN" sz="1800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d>
                          <m:r>
                            <a:rPr lang="vi-VN" sz="1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vi-VN" sz="18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vi-VN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l-G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β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p</m:t>
                              </m:r>
                            </m:sub>
                          </m:sSub>
                        </m:num>
                        <m:den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vi-VN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vi-V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GS</m:t>
                              </m:r>
                              <m:r>
                                <a:rPr lang="vi-VN" sz="18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vi-VN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vi-V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vi-VN" sz="1800" i="1">
                                      <a:latin typeface="Cambria Math" panose="02040503050406030204" pitchFamily="18" charset="0"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vi-VN" sz="1800" i="1">
                                      <a:latin typeface="Cambria Math" panose="02040503050406030204" pitchFamily="18" charset="0"/>
                                    </a:rPr>
                                    <m:t>thp</m:t>
                                  </m:r>
                                  <m:r>
                                    <a:rPr lang="vi-VN" sz="1800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d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vi-VN" sz="1800" dirty="0">
                  <a:latin typeface="+mn-lt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m:rPr>
                              <m:sty m:val="p"/>
                            </m:rPr>
                            <a:rPr lang="vi-VN" sz="1800" i="1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vi-VN" sz="1800" i="1">
                              <a:latin typeface="Cambria Math" panose="02040503050406030204" pitchFamily="18" charset="0"/>
                            </a:rPr>
                            <m:t>GS</m:t>
                          </m:r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vi-V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vi-VN" sz="18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vi-V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vi-VN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vi-V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vi-VN" sz="1800" i="1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e>
                                <m:sub>
                                  <m:r>
                                    <a:rPr lang="vi-VN" sz="1800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l-GR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β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vi-V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p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  <m:r>
                        <a:rPr lang="vi-VN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vi-VN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vi-V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thp</m:t>
                              </m:r>
                              <m:r>
                                <a:rPr lang="vi-VN" sz="18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vi-VN" sz="1800" dirty="0">
                  <a:solidFill>
                    <a:schemeClr val="tx1"/>
                  </a:solidFill>
                  <a:latin typeface="+mn-lt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vi-V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vi-VN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vi-V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DD</m:t>
                        </m:r>
                      </m:sub>
                    </m:sSub>
                    <m:r>
                      <a:rPr lang="vi-VN" sz="1800" b="0" i="1" smtClean="0">
                        <a:latin typeface="Cambria Math" panose="02040503050406030204" pitchFamily="18" charset="0"/>
                      </a:rPr>
                      <m:t>−(</m:t>
                    </m:r>
                    <m:rad>
                      <m:radPr>
                        <m:degHide m:val="on"/>
                        <m:ctrlPr>
                          <a:rPr lang="vi-VN" sz="1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vi-VN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vi-VN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b>
                              <m:sSubPr>
                                <m:ctrlPr>
                                  <a:rPr lang="vi-VN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vi-VN" sz="1800" i="1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</m:e>
                              <m:sub>
                                <m:r>
                                  <a:rPr lang="vi-VN" sz="18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l-GR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β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vi-VN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p</m:t>
                                </m:r>
                              </m:sub>
                            </m:sSub>
                          </m:den>
                        </m:f>
                      </m:e>
                    </m:rad>
                    <m:r>
                      <a:rPr lang="vi-VN" sz="1800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|"/>
                        <m:endChr m:val="|"/>
                        <m:ctrlPr>
                          <a:rPr lang="vi-V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vi-V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vi-VN" sz="1800" i="1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vi-VN" sz="1800" i="1">
                                <a:latin typeface="Cambria Math" panose="02040503050406030204" pitchFamily="18" charset="0"/>
                              </a:rPr>
                              <m:t>thp</m:t>
                            </m:r>
                            <m:r>
                              <a:rPr lang="vi-VN" sz="18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d>
                  </m:oMath>
                </a14:m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)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m:rPr>
                          <m:sty m:val="p"/>
                        </m:rPr>
                        <a:rPr lang="vi-VN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ICMR</m:t>
                      </m:r>
                      <m:r>
                        <a:rPr lang="vi-VN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+=</m:t>
                      </m:r>
                      <m:sSub>
                        <m:sSubPr>
                          <m:ctrlPr>
                            <a:rPr lang="vi-VN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vi-VN" sz="1800" i="1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vi-VN" sz="1800" i="1">
                              <a:latin typeface="Cambria Math" panose="02040503050406030204" pitchFamily="18" charset="0"/>
                            </a:rPr>
                            <m:t>DD</m:t>
                          </m:r>
                        </m:sub>
                      </m:sSub>
                      <m:r>
                        <a:rPr lang="vi-VN" sz="1800" i="1">
                          <a:latin typeface="Cambria Math" panose="02040503050406030204" pitchFamily="18" charset="0"/>
                        </a:rPr>
                        <m:t>−</m:t>
                      </m:r>
                      <m:rad>
                        <m:radPr>
                          <m:degHide m:val="on"/>
                          <m:ctrlPr>
                            <a:rPr lang="vi-VN" sz="18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vi-VN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vi-VN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vi-V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vi-VN" sz="1800" i="1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e>
                                <m:sub>
                                  <m:r>
                                    <a:rPr lang="vi-VN" sz="1800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l-GR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β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vi-V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p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  <m:r>
                        <a:rPr lang="vi-VN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vi-VN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vi-VN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vi-V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vi-VN" sz="1800" i="1">
                                      <a:latin typeface="Cambria Math" panose="02040503050406030204" pitchFamily="18" charset="0"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vi-VN" sz="1800" i="1">
                                      <a:latin typeface="Cambria Math" panose="02040503050406030204" pitchFamily="18" charset="0"/>
                                    </a:rPr>
                                    <m:t>thp</m:t>
                                  </m:r>
                                  <m:r>
                                    <a:rPr lang="vi-VN" sz="1800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m:rPr>
                              <m:sty m:val="p"/>
                            </m:rPr>
                            <a:rPr lang="vi-VN" sz="1800" i="1">
                              <a:latin typeface="Cambria Math" panose="02040503050406030204" pitchFamily="18" charset="0"/>
                            </a:rPr>
                            <m:t>max</m:t>
                          </m:r>
                        </m:sub>
                      </m:sSub>
                      <m:r>
                        <a:rPr lang="vi-VN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vi-VN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vi-V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thn</m:t>
                              </m:r>
                              <m:r>
                                <a:rPr lang="vi-VN" sz="1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b>
                          <m:r>
                            <m:rPr>
                              <m:sty m:val="p"/>
                            </m:rPr>
                            <a:rPr lang="vi-VN" sz="1800" i="1">
                              <a:latin typeface="Cambria Math" panose="02040503050406030204" pitchFamily="18" charset="0"/>
                            </a:rPr>
                            <m:t>min</m:t>
                          </m:r>
                        </m:sub>
                      </m:sSub>
                    </m:oMath>
                  </m:oMathPara>
                </a14:m>
                <a:endParaRPr lang="vi-VN" sz="1800" dirty="0">
                  <a:solidFill>
                    <a:schemeClr val="tx1"/>
                  </a:solidFill>
                  <a:latin typeface="+mn-lt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vi-VN" sz="1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vi-V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den>
                          </m:f>
                          <m:r>
                            <a:rPr lang="vi-VN" sz="1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vi-VN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vi-V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vi-VN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vi-V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a:rPr lang="vi-VN" sz="18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ox</m:t>
                              </m:r>
                            </m:sub>
                          </m:sSub>
                          <m:sSup>
                            <m:sSupPr>
                              <m:ctrlPr>
                                <a:rPr lang="vi-V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vi-VN" sz="1800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vi-V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vi-VN" sz="1800" i="1">
                                      <a:latin typeface="Cambria Math" panose="02040503050406030204" pitchFamily="18" charset="0"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vi-VN" sz="1800" i="1">
                                      <a:latin typeface="Cambria Math" panose="02040503050406030204" pitchFamily="18" charset="0"/>
                                    </a:rPr>
                                    <m:t>DD</m:t>
                                  </m:r>
                                </m:sub>
                              </m:sSub>
                              <m:r>
                                <a:rPr lang="vi-VN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vi-VN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ICMR</m:t>
                              </m:r>
                              <m:r>
                                <a:rPr lang="vi-V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 </m:t>
                              </m:r>
                              <m:sSub>
                                <m:sSubPr>
                                  <m:ctrlPr>
                                    <a:rPr lang="vi-V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vi-VN" sz="1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vi-VN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vi-VN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vi-VN" sz="1800" i="1">
                                              <a:latin typeface="Cambria Math" panose="02040503050406030204" pitchFamily="18" charset="0"/>
                                            </a:rPr>
                                            <m:t>V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vi-VN" sz="1800" i="1">
                                              <a:latin typeface="Cambria Math" panose="02040503050406030204" pitchFamily="18" charset="0"/>
                                            </a:rPr>
                                            <m:t>thp</m:t>
                                          </m:r>
                                          <m:r>
                                            <a:rPr lang="vi-VN" sz="1800" i="1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vi-VN" sz="1800" i="1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sub>
                              </m:sSub>
                              <m:r>
                                <a:rPr lang="vi-VN" sz="1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vi-V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vi-VN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vi-VN" sz="1800" i="1">
                                          <a:latin typeface="Cambria Math" panose="02040503050406030204" pitchFamily="18" charset="0"/>
                                        </a:rPr>
                                        <m:t>V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vi-VN" sz="1800" i="1">
                                          <a:latin typeface="Cambria Math" panose="02040503050406030204" pitchFamily="18" charset="0"/>
                                        </a:rPr>
                                        <m:t>thn</m:t>
                                      </m:r>
                                      <m:r>
                                        <a:rPr lang="vi-VN" sz="18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vi-VN" sz="1800" i="1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sub>
                              </m:sSub>
                              <m:r>
                                <a:rPr lang="vi-VN" sz="1800" b="0" i="1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  <m:sup>
                              <m:r>
                                <a:rPr lang="vi-VN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vi-V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vi-VN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vi-VN" sz="18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m:rPr>
                              <m:sty m:val="p"/>
                            </m:rPr>
                            <a:rPr lang="vi-VN" sz="1800" i="1">
                              <a:latin typeface="Cambria Math" panose="02040503050406030204" pitchFamily="18" charset="0"/>
                            </a:rPr>
                            <m:t>u</m:t>
                          </m:r>
                        </m:num>
                        <m:den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122</m:t>
                          </m:r>
                          <m:r>
                            <m:rPr>
                              <m:sty m:val="p"/>
                            </m:rPr>
                            <a:rPr lang="vi-VN" sz="1800" i="1">
                              <a:latin typeface="Cambria Math" panose="02040503050406030204" pitchFamily="18" charset="0"/>
                            </a:rPr>
                            <m:t>u</m:t>
                          </m:r>
                          <m:r>
                            <a:rPr lang="vi-VN" sz="18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sSup>
                            <m:sSupPr>
                              <m:ctrlPr>
                                <a:rPr lang="vi-VN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vi-VN" sz="18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vi-VN" sz="18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vi-VN" sz="18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vi-VN" sz="1800" i="1">
                                  <a:latin typeface="Cambria Math" panose="02040503050406030204" pitchFamily="18" charset="0"/>
                                </a:rPr>
                                <m:t>2−</m:t>
                              </m:r>
                              <m:r>
                                <a:rPr lang="vi-VN" sz="18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vi-VN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vi-V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vi-VN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vi-V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vi-VN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294</m:t>
                              </m:r>
                              <m:r>
                                <a:rPr lang="vi-V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vi-VN" sz="1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vi-VN" sz="1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vi-VN" sz="1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vi-VN" sz="18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vi-VN" sz="1800" i="1">
                                  <a:latin typeface="Cambria Math" panose="02040503050406030204" pitchFamily="18" charset="0"/>
                                </a:rPr>
                                <m:t>305]</m:t>
                              </m:r>
                            </m:e>
                            <m:sup>
                              <m:r>
                                <a:rPr lang="vi-VN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vi-VN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vi-VN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vi-VN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vi-VN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68</m:t>
                      </m:r>
                    </m:oMath>
                  </m:oMathPara>
                </a14:m>
                <a:endParaRPr lang="vi-VN" sz="1800" dirty="0">
                  <a:solidFill>
                    <a:schemeClr val="tx1"/>
                  </a:solidFill>
                  <a:latin typeface="+mn-lt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vi-VN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vi-VN" sz="1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vi-VN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vi-VN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L</m:t>
                            </m:r>
                          </m:den>
                        </m:f>
                        <m:r>
                          <a:rPr lang="vi-VN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vi-VN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vi-VN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vi-VN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vi-VN" sz="1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vi-VN" sz="1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vi-VN" sz="1800" dirty="0">
                    <a:solidFill>
                      <a:srgbClr val="FF0000"/>
                    </a:solidFill>
                    <a:latin typeface="+mn-lt"/>
                  </a:rPr>
                  <a:t> </a:t>
                </a:r>
                <a:endParaRPr lang="en-US" sz="1800" dirty="0">
                  <a:solidFill>
                    <a:schemeClr val="tx1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2" name="Hộp Văn bản 1">
                <a:extLst>
                  <a:ext uri="{FF2B5EF4-FFF2-40B4-BE49-F238E27FC236}">
                    <a16:creationId xmlns:a16="http://schemas.microsoft.com/office/drawing/2014/main" id="{AB476593-CB2B-3776-CC4D-578F589DB0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430" y="614362"/>
                <a:ext cx="11220450" cy="5679055"/>
              </a:xfrm>
              <a:prstGeom prst="rect">
                <a:avLst/>
              </a:prstGeom>
              <a:blipFill>
                <a:blip r:embed="rId2"/>
                <a:stretch>
                  <a:fillRect l="-435" t="-6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Hình ảnh 8">
            <a:extLst>
              <a:ext uri="{FF2B5EF4-FFF2-40B4-BE49-F238E27FC236}">
                <a16:creationId xmlns:a16="http://schemas.microsoft.com/office/drawing/2014/main" id="{A2770077-BFA1-D88F-8B1F-39534D5D23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2750" y="614363"/>
            <a:ext cx="1293819" cy="408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3744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607A4-8F6D-591E-8ABD-F3E602CEC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92;p9">
            <a:extLst>
              <a:ext uri="{FF2B5EF4-FFF2-40B4-BE49-F238E27FC236}">
                <a16:creationId xmlns:a16="http://schemas.microsoft.com/office/drawing/2014/main" id="{447FCE2A-43D4-44BE-16B5-F4BB994B1527}"/>
              </a:ext>
            </a:extLst>
          </p:cNvPr>
          <p:cNvSpPr txBox="1">
            <a:spLocks/>
          </p:cNvSpPr>
          <p:nvPr/>
        </p:nvSpPr>
        <p:spPr>
          <a:xfrm>
            <a:off x="300853" y="90644"/>
            <a:ext cx="10492382" cy="381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/>
            <a:r>
              <a:rPr lang="vi-VN" sz="2800" dirty="0" err="1">
                <a:solidFill>
                  <a:srgbClr val="002060"/>
                </a:solidFill>
                <a:latin typeface="Arial Rounded MT Bold" panose="020F0704030504030204" pitchFamily="34" charset="0"/>
              </a:rPr>
              <a:t>Design</a:t>
            </a:r>
            <a:r>
              <a:rPr lang="vi-VN" sz="2800" dirty="0">
                <a:solidFill>
                  <a:srgbClr val="002060"/>
                </a:solidFill>
                <a:latin typeface="Arial Rounded MT Bold" panose="020F0704030504030204" pitchFamily="34" charset="0"/>
              </a:rPr>
              <a:t> </a:t>
            </a:r>
            <a:r>
              <a:rPr lang="vi-VN" sz="2800" dirty="0" err="1">
                <a:solidFill>
                  <a:srgbClr val="002060"/>
                </a:solidFill>
                <a:latin typeface="Arial Rounded MT Bold" panose="020F0704030504030204" pitchFamily="34" charset="0"/>
              </a:rPr>
              <a:t>Procedure</a:t>
            </a:r>
            <a:endParaRPr lang="vi-VN" sz="2800" dirty="0">
              <a:solidFill>
                <a:srgbClr val="002060"/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Hộp Văn bản 1">
                <a:extLst>
                  <a:ext uri="{FF2B5EF4-FFF2-40B4-BE49-F238E27FC236}">
                    <a16:creationId xmlns:a16="http://schemas.microsoft.com/office/drawing/2014/main" id="{C6374134-F210-D9F1-C80C-17758142B2E5}"/>
                  </a:ext>
                </a:extLst>
              </p:cNvPr>
              <p:cNvSpPr txBox="1"/>
              <p:nvPr/>
            </p:nvSpPr>
            <p:spPr>
              <a:xfrm>
                <a:off x="325430" y="614362"/>
                <a:ext cx="11220450" cy="40582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vi-VN" sz="1800" dirty="0">
                    <a:latin typeface="+mn-lt"/>
                  </a:rPr>
                  <a:t>5/ ICMR - (0.</a:t>
                </a:r>
                <a:r>
                  <a:rPr lang="en-US" sz="1800" dirty="0">
                    <a:latin typeface="+mn-lt"/>
                  </a:rPr>
                  <a:t>6</a:t>
                </a:r>
                <a:r>
                  <a:rPr lang="vi-VN" sz="1800" dirty="0">
                    <a:latin typeface="+mn-lt"/>
                  </a:rPr>
                  <a:t>V)</a:t>
                </a:r>
              </a:p>
              <a:p>
                <a:r>
                  <a:rPr lang="vi-VN" sz="1800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IN</m:t>
                        </m:r>
                      </m:sub>
                    </m:sSub>
                    <m:r>
                      <a:rPr lang="vi-VN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vi-V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 sz="1800" i="1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vi-VN" sz="1800" i="1" smtClean="0">
                            <a:latin typeface="Cambria Math" panose="02040503050406030204" pitchFamily="18" charset="0"/>
                          </a:rPr>
                          <m:t>GS</m:t>
                        </m:r>
                        <m:r>
                          <a:rPr lang="vi-VN" sz="180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1800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vi-V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vi-VN" sz="1800" i="1" smtClean="0">
                            <a:latin typeface="Cambria Math" panose="02040503050406030204" pitchFamily="18" charset="0"/>
                          </a:rPr>
                          <m:t>DS</m:t>
                        </m:r>
                        <m:r>
                          <a:rPr lang="vi-VN" sz="1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sat</m:t>
                        </m:r>
                        <m:r>
                          <a:rPr lang="vi-VN" sz="1800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endParaRPr lang="vi-VN" sz="1800" dirty="0">
                  <a:solidFill>
                    <a:schemeClr val="tx1"/>
                  </a:solidFill>
                  <a:latin typeface="+mn-lt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vi-V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 sz="1800" i="1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IN</m:t>
                        </m:r>
                        <m:r>
                          <a:rPr lang="vi-VN" sz="1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  <m:r>
                      <a:rPr lang="vi-V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vi-V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vi-V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vi-VN" sz="1800" i="1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vi-VN" sz="1800" i="1">
                                <a:latin typeface="Cambria Math" panose="02040503050406030204" pitchFamily="18" charset="0"/>
                              </a:rPr>
                              <m:t>GS</m:t>
                            </m:r>
                            <m:r>
                              <a:rPr lang="vi-VN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sub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a:rPr lang="vi-VN" sz="1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vi-V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DS</m:t>
                        </m:r>
                        <m:r>
                          <a:rPr lang="vi-VN" sz="1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sat</m:t>
                        </m:r>
                        <m:r>
                          <a:rPr lang="vi-VN" sz="1800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(1)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ICMR</m:t>
                    </m:r>
                  </m:oMath>
                </a14:m>
                <a:r>
                  <a:rPr lang="vi-VN" sz="1800" dirty="0">
                    <a:latin typeface="+mn-lt"/>
                  </a:rPr>
                  <a:t>- </a:t>
                </a:r>
                <a14:m>
                  <m:oMath xmlns:m="http://schemas.openxmlformats.org/officeDocument/2006/math">
                    <m:r>
                      <a:rPr lang="vi-V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vi-VN" sz="1800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vi-VN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vi-VN" sz="18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f>
                                  <m:fPr>
                                    <m:ctrlPr>
                                      <a:rPr lang="vi-VN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vi-VN" sz="1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sSub>
                                      <m:sSubPr>
                                        <m:ctrlPr>
                                          <a:rPr lang="vi-VN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vi-VN" sz="1800" i="1">
                                            <a:latin typeface="Cambria Math" panose="02040503050406030204" pitchFamily="18" charset="0"/>
                                          </a:rPr>
                                          <m:t>I</m:t>
                                        </m:r>
                                      </m:e>
                                      <m:sub>
                                        <m:r>
                                          <a:rPr lang="vi-VN" sz="18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l-GR" sz="1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sz="1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β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vi-VN" sz="1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n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rad>
                            <m:r>
                              <a:rPr lang="vi-VN" sz="18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vi-VN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vi-VN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vi-VN" sz="1800" i="1">
                                        <a:latin typeface="Cambria Math" panose="02040503050406030204" pitchFamily="18" charset="0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vi-VN" sz="1800" i="1">
                                        <a:latin typeface="Cambria Math" panose="02040503050406030204" pitchFamily="18" charset="0"/>
                                      </a:rPr>
                                      <m:t>thn</m:t>
                                    </m:r>
                                    <m:r>
                                      <a:rPr lang="vi-VN" sz="1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a:rPr lang="vi-VN" sz="1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vi-V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DS</m:t>
                        </m:r>
                        <m:r>
                          <a:rPr lang="vi-VN" sz="1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sat</m:t>
                        </m:r>
                        <m:r>
                          <a:rPr lang="vi-VN" sz="1800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vi-VN" sz="18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vi-VN" sz="1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vi-VN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vi-VN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b>
                              <m:sSubPr>
                                <m:ctrlPr>
                                  <a:rPr lang="vi-VN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vi-VN" sz="1800" i="1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</m:e>
                              <m:sub>
                                <m:r>
                                  <a:rPr lang="vi-VN" sz="1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l-GR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β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vi-VN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n</m:t>
                                </m:r>
                              </m:sub>
                            </m:sSub>
                          </m:den>
                        </m:f>
                      </m:e>
                    </m:rad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vi-V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vi-V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vi-VN" sz="1800" i="1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vi-VN" sz="1800" i="1">
                                <a:latin typeface="Cambria Math" panose="02040503050406030204" pitchFamily="18" charset="0"/>
                              </a:rPr>
                              <m:t>thn</m:t>
                            </m:r>
                            <m:r>
                              <a:rPr lang="vi-VN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sub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vi-VN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DS</m:t>
                        </m:r>
                        <m:r>
                          <a:rPr lang="vi-VN" sz="1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sat</m:t>
                        </m:r>
                        <m:r>
                          <a:rPr lang="vi-VN" sz="1800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endParaRPr lang="vi-VN" sz="180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vi-V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DS</m:t>
                        </m:r>
                        <m:r>
                          <a:rPr lang="vi-VN" sz="1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sat</m:t>
                        </m:r>
                        <m:r>
                          <a:rPr lang="vi-VN" sz="1800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vi-V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vi-V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ICMR</m:t>
                    </m:r>
                    <m:r>
                      <m:rPr>
                        <m:nor/>
                      </m:rPr>
                      <a:rPr lang="vi-VN" sz="1800" dirty="0"/>
                      <m:t>−</m:t>
                    </m:r>
                    <m:r>
                      <m:rPr>
                        <m:nor/>
                      </m:rPr>
                      <a:rPr lang="en-US" sz="1800" b="0" i="1" dirty="0" smtClean="0"/>
                      <m:t> </m:t>
                    </m:r>
                  </m:oMath>
                </a14:m>
                <a:r>
                  <a:rPr lang="en-US" sz="1800" i="1" dirty="0">
                    <a:latin typeface="Cambria Math" panose="02040503050406030204" pitchFamily="18" charset="0"/>
                  </a:rPr>
                  <a:t>-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vi-VN" sz="1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vi-VN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vi-VN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b>
                              <m:sSubPr>
                                <m:ctrlPr>
                                  <a:rPr lang="vi-VN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vi-VN" sz="1800" i="1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</m:e>
                              <m:sub>
                                <m:r>
                                  <a:rPr lang="vi-VN" sz="1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l-GR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β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vi-VN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n</m:t>
                                </m:r>
                              </m:sub>
                            </m:sSub>
                          </m:den>
                        </m:f>
                      </m:e>
                    </m:rad>
                  </m:oMath>
                </a14:m>
                <a:r>
                  <a:rPr lang="en-US" sz="1800" i="1" dirty="0">
                    <a:latin typeface="Cambria Math" panose="02040503050406030204" pitchFamily="18" charset="0"/>
                  </a:rPr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vi-V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vi-VN" sz="1800" i="1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vi-VN" sz="1800" i="1">
                                <a:latin typeface="Cambria Math" panose="02040503050406030204" pitchFamily="18" charset="0"/>
                              </a:rPr>
                              <m:t>thn</m:t>
                            </m:r>
                            <m:r>
                              <a:rPr lang="vi-VN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sub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</m:oMath>
                </a14:m>
                <a:endParaRPr lang="en-US" sz="18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vi-VN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vi-VN" sz="1800" i="1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vi-VN" sz="1800" i="1">
                              <a:latin typeface="Cambria Math" panose="02040503050406030204" pitchFamily="18" charset="0"/>
                            </a:rPr>
                            <m:t>DS</m:t>
                          </m:r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vi-VN" sz="1800" i="1">
                              <a:latin typeface="Cambria Math" panose="02040503050406030204" pitchFamily="18" charset="0"/>
                            </a:rPr>
                            <m:t>sat</m:t>
                          </m:r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=0.6−</m:t>
                      </m:r>
                      <m:rad>
                        <m:radPr>
                          <m:degHide m:val="on"/>
                          <m:ctrlPr>
                            <a:rPr lang="vi-VN" sz="18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vi-VN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vi-VN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∗10</m:t>
                              </m:r>
                            </m:num>
                            <m:den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354∗10</m:t>
                              </m:r>
                            </m:den>
                          </m:f>
                        </m:e>
                      </m:rad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−0.375=0.15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𝑚𝑉</m:t>
                      </m:r>
                      <m:r>
                        <m:rPr>
                          <m:nor/>
                        </m:rPr>
                        <a:rPr lang="en-US" sz="1800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vi-VN" sz="1800" dirty="0">
                  <a:solidFill>
                    <a:schemeClr val="tx1"/>
                  </a:solidFill>
                  <a:latin typeface="+mn-lt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vi-VN" sz="1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vi-V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den>
                          </m:f>
                          <m:r>
                            <a:rPr lang="vi-VN" sz="1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vi-V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vi-VN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vi-V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ox</m:t>
                              </m:r>
                            </m:sub>
                          </m:sSub>
                          <m:sSup>
                            <m:sSupPr>
                              <m:ctrlPr>
                                <a:rPr lang="vi-V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vi-VN" sz="1800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vi-V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vi-VN" sz="1800" i="1">
                                      <a:latin typeface="Cambria Math" panose="02040503050406030204" pitchFamily="18" charset="0"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vi-VN" sz="1800" i="1">
                                      <a:latin typeface="Cambria Math" panose="02040503050406030204" pitchFamily="18" charset="0"/>
                                    </a:rPr>
                                    <m:t>DS</m:t>
                                  </m:r>
                                  <m:r>
                                    <a:rPr lang="vi-VN" sz="18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vi-VN" sz="1800" i="1">
                                      <a:latin typeface="Cambria Math" panose="02040503050406030204" pitchFamily="18" charset="0"/>
                                    </a:rPr>
                                    <m:t>sat</m:t>
                                  </m:r>
                                  <m:r>
                                    <a:rPr lang="vi-VN" sz="1800" i="1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vi-VN" sz="1800" b="0" i="1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  <m:sup>
                              <m:r>
                                <a:rPr lang="vi-VN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vi-V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vi-VN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vi-VN" sz="18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m:rPr>
                              <m:sty m:val="p"/>
                            </m:rPr>
                            <a:rPr lang="vi-VN" sz="1800" i="1">
                              <a:latin typeface="Cambria Math" panose="02040503050406030204" pitchFamily="18" charset="0"/>
                            </a:rPr>
                            <m:t>u</m:t>
                          </m:r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356</m:t>
                          </m:r>
                          <m:r>
                            <m:rPr>
                              <m:sty m:val="p"/>
                            </m:rPr>
                            <a:rPr lang="vi-VN" sz="1800" i="1">
                              <a:latin typeface="Cambria Math" panose="02040503050406030204" pitchFamily="18" charset="0"/>
                            </a:rPr>
                            <m:t>u</m:t>
                          </m:r>
                          <m:r>
                            <a:rPr lang="vi-VN" sz="18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sSup>
                            <m:sSupPr>
                              <m:ctrlPr>
                                <a:rPr lang="vi-VN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vi-VN" sz="18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0.15</m:t>
                              </m:r>
                              <m:r>
                                <a:rPr lang="vi-VN" sz="1800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  <m:sup>
                              <m:r>
                                <a:rPr lang="vi-VN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vi-VN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vi-VN" sz="1800" dirty="0">
                  <a:solidFill>
                    <a:schemeClr val="tx1"/>
                  </a:solidFill>
                  <a:latin typeface="+mn-lt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vi-VN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vi-VN" sz="1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vi-VN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vi-VN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L</m:t>
                            </m:r>
                          </m:den>
                        </m:f>
                        <m:r>
                          <a:rPr lang="vi-VN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vi-VN" sz="1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vi-VN" sz="1800" dirty="0">
                    <a:solidFill>
                      <a:srgbClr val="FF0000"/>
                    </a:solidFill>
                    <a:latin typeface="+mn-lt"/>
                  </a:rPr>
                  <a:t> </a:t>
                </a:r>
                <a:endParaRPr lang="en-US" sz="1800" dirty="0">
                  <a:solidFill>
                    <a:schemeClr val="tx1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2" name="Hộp Văn bản 1">
                <a:extLst>
                  <a:ext uri="{FF2B5EF4-FFF2-40B4-BE49-F238E27FC236}">
                    <a16:creationId xmlns:a16="http://schemas.microsoft.com/office/drawing/2014/main" id="{C6374134-F210-D9F1-C80C-17758142B2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430" y="614362"/>
                <a:ext cx="11220450" cy="4058290"/>
              </a:xfrm>
              <a:prstGeom prst="rect">
                <a:avLst/>
              </a:prstGeom>
              <a:blipFill>
                <a:blip r:embed="rId2"/>
                <a:stretch>
                  <a:fillRect l="-435" t="-9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89924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C127F-2C01-6A9B-966F-F84675178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92;p9">
            <a:extLst>
              <a:ext uri="{FF2B5EF4-FFF2-40B4-BE49-F238E27FC236}">
                <a16:creationId xmlns:a16="http://schemas.microsoft.com/office/drawing/2014/main" id="{B490C2DC-9584-FE26-D70D-5C33B9F96D93}"/>
              </a:ext>
            </a:extLst>
          </p:cNvPr>
          <p:cNvSpPr txBox="1">
            <a:spLocks/>
          </p:cNvSpPr>
          <p:nvPr/>
        </p:nvSpPr>
        <p:spPr>
          <a:xfrm>
            <a:off x="300853" y="90644"/>
            <a:ext cx="10492382" cy="381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/>
            <a:r>
              <a:rPr lang="vi-VN" sz="2800" dirty="0" err="1">
                <a:solidFill>
                  <a:srgbClr val="002060"/>
                </a:solidFill>
                <a:latin typeface="Arial Rounded MT Bold" panose="020F0704030504030204" pitchFamily="34" charset="0"/>
              </a:rPr>
              <a:t>Design</a:t>
            </a:r>
            <a:r>
              <a:rPr lang="vi-VN" sz="2800" dirty="0">
                <a:solidFill>
                  <a:srgbClr val="002060"/>
                </a:solidFill>
                <a:latin typeface="Arial Rounded MT Bold" panose="020F0704030504030204" pitchFamily="34" charset="0"/>
              </a:rPr>
              <a:t> </a:t>
            </a:r>
            <a:r>
              <a:rPr lang="vi-VN" sz="2800" dirty="0" err="1">
                <a:solidFill>
                  <a:srgbClr val="002060"/>
                </a:solidFill>
                <a:latin typeface="Arial Rounded MT Bold" panose="020F0704030504030204" pitchFamily="34" charset="0"/>
              </a:rPr>
              <a:t>Procedure</a:t>
            </a:r>
            <a:endParaRPr lang="vi-VN" sz="2800" dirty="0">
              <a:solidFill>
                <a:srgbClr val="002060"/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Hộp Văn bản 1">
                <a:extLst>
                  <a:ext uri="{FF2B5EF4-FFF2-40B4-BE49-F238E27FC236}">
                    <a16:creationId xmlns:a16="http://schemas.microsoft.com/office/drawing/2014/main" id="{B4DD8E56-F87A-F956-9D90-30A86DF5C6E2}"/>
                  </a:ext>
                </a:extLst>
              </p:cNvPr>
              <p:cNvSpPr txBox="1"/>
              <p:nvPr/>
            </p:nvSpPr>
            <p:spPr>
              <a:xfrm>
                <a:off x="325430" y="614362"/>
                <a:ext cx="11220450" cy="44063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vi-VN" sz="1800" dirty="0">
                    <a:latin typeface="+mn-lt"/>
                  </a:rPr>
                  <a:t>5/ To </a:t>
                </a:r>
                <a:r>
                  <a:rPr lang="vi-VN" sz="1800" dirty="0" err="1">
                    <a:latin typeface="+mn-lt"/>
                  </a:rPr>
                  <a:t>have</a:t>
                </a:r>
                <a:r>
                  <a:rPr lang="vi-VN" sz="1800" dirty="0">
                    <a:latin typeface="+mn-lt"/>
                  </a:rPr>
                  <a:t> </a:t>
                </a:r>
                <a:r>
                  <a:rPr lang="vi-VN" sz="1800" dirty="0" err="1">
                    <a:latin typeface="+mn-lt"/>
                  </a:rPr>
                  <a:t>phase</a:t>
                </a:r>
                <a:r>
                  <a:rPr lang="vi-VN" sz="1800" dirty="0">
                    <a:latin typeface="+mn-lt"/>
                  </a:rPr>
                  <a:t> </a:t>
                </a:r>
                <a:r>
                  <a:rPr lang="vi-VN" sz="1800" dirty="0" err="1">
                    <a:latin typeface="+mn-lt"/>
                  </a:rPr>
                  <a:t>margin</a:t>
                </a:r>
                <a:r>
                  <a:rPr lang="vi-VN" sz="1800" dirty="0">
                    <a:latin typeface="+mn-lt"/>
                  </a:rPr>
                  <a:t> &gt; 60</a:t>
                </a:r>
                <a:endParaRPr lang="en-US" sz="1800" dirty="0">
                  <a:latin typeface="+mn-lt"/>
                </a:endParaRPr>
              </a:p>
              <a:p>
                <a:r>
                  <a:rPr lang="vi-VN" sz="1800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vi-VN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vi-V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vi-VN" sz="18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vi-V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10∗260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vi-V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+mn-lt"/>
                  </a:rPr>
                  <a:t> 2600u</a:t>
                </a:r>
                <a:endParaRPr lang="vi-VN" sz="1800" dirty="0">
                  <a:solidFill>
                    <a:schemeClr val="tx1"/>
                  </a:solidFill>
                  <a:latin typeface="+mn-lt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vi-VN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vi-VN" sz="18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ox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vi-VN" sz="18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vi-VN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vi-VN" sz="1800" i="1">
                                      <a:latin typeface="Cambria Math" panose="02040503050406030204" pitchFamily="18" charset="0"/>
                                    </a:rPr>
                                    <m:t>W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vi-VN" sz="1800" i="1">
                                      <a:latin typeface="Cambria Math" panose="02040503050406030204" pitchFamily="18" charset="0"/>
                                    </a:rPr>
                                    <m:t>L</m:t>
                                  </m:r>
                                </m:den>
                              </m:f>
                              <m:r>
                                <a:rPr lang="vi-VN" sz="18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b>
                              <m:r>
                                <a:rPr lang="vi-VN" sz="1800" i="1">
                                  <a:latin typeface="Cambria Math" panose="02040503050406030204" pitchFamily="18" charset="0"/>
                                </a:rPr>
                                <m:t>3,4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∗2</m:t>
                          </m:r>
                          <m:sSub>
                            <m:sSubPr>
                              <m:ctrlPr>
                                <a:rPr lang="vi-V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rad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vi-VN" sz="18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122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∗4∗2∗10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ra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=98.8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≈100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vi-VN" sz="180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sz="1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vi-VN" sz="1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vi-VN" sz="1800" i="1">
                                <a:latin typeface="Cambria Math" panose="02040503050406030204" pitchFamily="18" charset="0"/>
                              </a:rPr>
                              <m:t>W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vi-VN" sz="1800" i="1">
                                <a:latin typeface="Cambria Math" panose="02040503050406030204" pitchFamily="18" charset="0"/>
                              </a:rPr>
                              <m:t>L</m:t>
                            </m:r>
                          </m:den>
                        </m:f>
                        <m:r>
                          <a:rPr lang="vi-VN" sz="1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vi-VN" sz="1800" i="1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vi-VN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vi-VN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vi-V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vi-V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sz="1800" i="1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vi-VN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vi-VN" sz="1800" i="1">
                                <a:latin typeface="Cambria Math" panose="02040503050406030204" pitchFamily="18" charset="0"/>
                              </a:rPr>
                              <m:t>W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vi-VN" sz="1800" i="1">
                                <a:latin typeface="Cambria Math" panose="02040503050406030204" pitchFamily="18" charset="0"/>
                              </a:rPr>
                              <m:t>L</m:t>
                            </m:r>
                          </m:den>
                        </m:f>
                        <m:r>
                          <a:rPr lang="vi-VN" sz="18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vi-VN" sz="180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vi-VN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vi-VN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vi-VN" sz="1800" i="1">
                            <a:latin typeface="Cambria Math" panose="02040503050406030204" pitchFamily="18" charset="0"/>
                          </a:rPr>
                          <m:t>2600</m:t>
                        </m:r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u</m:t>
                        </m:r>
                      </m:num>
                      <m:den>
                        <m:r>
                          <a:rPr lang="vi-VN" sz="1800" i="1"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u</m:t>
                        </m:r>
                      </m:den>
                    </m:f>
                    <m:r>
                      <a:rPr lang="vi-VN" sz="18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vi-VN" sz="1800" i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vi-VN" sz="1800" dirty="0">
                    <a:latin typeface="Cambria Math" panose="02040503050406030204" pitchFamily="18" charset="0"/>
                  </a:rPr>
                  <a:t>=104</a:t>
                </a:r>
                <a:endParaRPr lang="en-US" sz="1800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vi-VN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vi-VN" sz="1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vi-VN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vi-VN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L</m:t>
                            </m:r>
                          </m:den>
                        </m:f>
                        <m:r>
                          <a:rPr lang="vi-VN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vi-VN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vi-VN" sz="1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vi-VN" sz="1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104</m:t>
                    </m:r>
                  </m:oMath>
                </a14:m>
                <a:r>
                  <a:rPr lang="vi-VN" sz="1800" dirty="0">
                    <a:solidFill>
                      <a:srgbClr val="FF0000"/>
                    </a:solidFill>
                    <a:latin typeface="+mn-lt"/>
                  </a:rPr>
                  <a:t> </a:t>
                </a:r>
              </a:p>
              <a:p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6/ To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find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sz="1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vi-VN" sz="1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vi-VN" sz="1800" i="1">
                                <a:latin typeface="Cambria Math" panose="02040503050406030204" pitchFamily="18" charset="0"/>
                              </a:rPr>
                              <m:t>W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vi-VN" sz="1800" i="1">
                                <a:latin typeface="Cambria Math" panose="02040503050406030204" pitchFamily="18" charset="0"/>
                              </a:rPr>
                              <m:t>L</m:t>
                            </m:r>
                          </m:den>
                        </m:f>
                        <m:r>
                          <a:rPr lang="vi-VN" sz="1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vi-VN" sz="1800" i="1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vi-VN" sz="18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vi-VN" sz="1800" i="1">
                        <a:latin typeface="Cambria Math" panose="02040503050406030204" pitchFamily="18" charset="0"/>
                      </a:rPr>
                      <m:t>we</m:t>
                    </m:r>
                  </m:oMath>
                </a14:m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need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to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know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the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biasing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current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for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that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</a:t>
                </a:r>
                <a:r>
                  <a:rPr lang="vi-VN" sz="1800" dirty="0" err="1">
                    <a:solidFill>
                      <a:schemeClr val="tx1"/>
                    </a:solidFill>
                    <a:latin typeface="+mn-lt"/>
                  </a:rPr>
                  <a:t>from</a:t>
                </a:r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 M6.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vi-V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vi-VN" sz="1800" i="1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vi-VN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vi-V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vi-VN" sz="1800" i="1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vi-VN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vi-VN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vi-VN" sz="18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f>
                              <m:fPr>
                                <m:ctrlPr>
                                  <a:rPr lang="vi-VN" sz="1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vi-VN" sz="1800" i="1">
                                    <a:latin typeface="Cambria Math" panose="02040503050406030204" pitchFamily="18" charset="0"/>
                                  </a:rPr>
                                  <m:t>W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vi-VN" sz="1800" i="1">
                                    <a:latin typeface="Cambria Math" panose="02040503050406030204" pitchFamily="18" charset="0"/>
                                  </a:rPr>
                                  <m:t>L</m:t>
                                </m:r>
                              </m:den>
                            </m:f>
                            <m:r>
                              <a:rPr lang="vi-VN" sz="18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b>
                            <m:r>
                              <a:rPr lang="vi-VN" sz="1800" i="1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vi-VN" sz="18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f>
                              <m:fPr>
                                <m:ctrlPr>
                                  <a:rPr lang="vi-VN" sz="1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vi-VN" sz="1800" i="1">
                                    <a:latin typeface="Cambria Math" panose="02040503050406030204" pitchFamily="18" charset="0"/>
                                  </a:rPr>
                                  <m:t>W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vi-VN" sz="1800" i="1">
                                    <a:latin typeface="Cambria Math" panose="02040503050406030204" pitchFamily="18" charset="0"/>
                                  </a:rPr>
                                  <m:t>L</m:t>
                                </m:r>
                              </m:den>
                            </m:f>
                            <m:r>
                              <a:rPr lang="vi-VN" sz="18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b>
                            <m:r>
                              <a:rPr lang="vi-VN" sz="180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vi-V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 sz="1800" i="1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vi-VN" sz="18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vi-VN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vi-VN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vi-VN" sz="1800" i="1">
                            <a:latin typeface="Cambria Math" panose="02040503050406030204" pitchFamily="18" charset="0"/>
                          </a:rPr>
                          <m:t>104</m:t>
                        </m:r>
                      </m:num>
                      <m:den>
                        <m:r>
                          <a:rPr lang="vi-VN" sz="1800" i="1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vi-VN" sz="18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vi-VN" sz="1800" i="1"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vi-VN" sz="1800" i="1"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r>
                  <a:rPr lang="vi-VN" sz="1800" dirty="0">
                    <a:solidFill>
                      <a:schemeClr val="tx1"/>
                    </a:solidFill>
                    <a:latin typeface="+mn-lt"/>
                  </a:rPr>
                  <a:t>=260u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vi-VN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den>
                          </m:f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vi-V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vi-VN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vi-V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a:rPr lang="vi-VN" sz="1800" i="1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a:rPr lang="vi-VN" sz="18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vi-VN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vi-VN" sz="1800" i="1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den>
                          </m:f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r>
                            <a:rPr lang="vi-VN" sz="180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vi-V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vi-VN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260</m:t>
                          </m:r>
                          <m:r>
                            <m:rPr>
                              <m:sty m:val="p"/>
                            </m:rPr>
                            <a:rPr lang="vi-VN" sz="1800" i="1">
                              <a:latin typeface="Cambria Math" panose="02040503050406030204" pitchFamily="18" charset="0"/>
                            </a:rPr>
                            <m:t>u</m:t>
                          </m:r>
                        </m:num>
                        <m:den>
                          <m:r>
                            <a:rPr lang="vi-VN" sz="1800" i="1">
                              <a:latin typeface="Cambria Math" panose="02040503050406030204" pitchFamily="18" charset="0"/>
                            </a:rPr>
                            <m:t>20</m:t>
                          </m:r>
                          <m:r>
                            <m:rPr>
                              <m:sty m:val="p"/>
                            </m:rPr>
                            <a:rPr lang="vi-VN" sz="1800" i="1">
                              <a:latin typeface="Cambria Math" panose="02040503050406030204" pitchFamily="18" charset="0"/>
                            </a:rPr>
                            <m:t>u</m:t>
                          </m:r>
                        </m:den>
                      </m:f>
                      <m:r>
                        <a:rPr lang="vi-VN" sz="18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vi-VN" sz="1800" i="1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vi-V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vi-VN" sz="1800" i="1">
                          <a:latin typeface="Cambria Math" panose="02040503050406030204" pitchFamily="18" charset="0"/>
                        </a:rPr>
                        <m:t>78</m:t>
                      </m:r>
                    </m:oMath>
                  </m:oMathPara>
                </a14:m>
                <a:endParaRPr lang="vi-VN" sz="1800" dirty="0">
                  <a:solidFill>
                    <a:schemeClr val="tx1"/>
                  </a:solidFill>
                  <a:latin typeface="+mn-lt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vi-VN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vi-VN" sz="1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vi-VN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vi-VN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den>
                          </m:f>
                          <m:r>
                            <a:rPr lang="vi-VN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r>
                            <a:rPr lang="vi-VN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vi-VN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vi-VN" sz="1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78</m:t>
                      </m:r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2" name="Hộp Văn bản 1">
                <a:extLst>
                  <a:ext uri="{FF2B5EF4-FFF2-40B4-BE49-F238E27FC236}">
                    <a16:creationId xmlns:a16="http://schemas.microsoft.com/office/drawing/2014/main" id="{B4DD8E56-F87A-F956-9D90-30A86DF5C6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430" y="614362"/>
                <a:ext cx="11220450" cy="4406399"/>
              </a:xfrm>
              <a:prstGeom prst="rect">
                <a:avLst/>
              </a:prstGeom>
              <a:blipFill>
                <a:blip r:embed="rId2"/>
                <a:stretch>
                  <a:fillRect l="-435" t="-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Hình ảnh 2">
            <a:extLst>
              <a:ext uri="{FF2B5EF4-FFF2-40B4-BE49-F238E27FC236}">
                <a16:creationId xmlns:a16="http://schemas.microsoft.com/office/drawing/2014/main" id="{6B01D557-F5C5-8AA5-949C-9ECC992C4C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2750" y="614363"/>
            <a:ext cx="1293819" cy="408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214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932C0-5B21-D457-410E-7383CD03C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92;p9">
            <a:extLst>
              <a:ext uri="{FF2B5EF4-FFF2-40B4-BE49-F238E27FC236}">
                <a16:creationId xmlns:a16="http://schemas.microsoft.com/office/drawing/2014/main" id="{F2FC701B-FE7A-32C2-A9D6-E85B2F8B8626}"/>
              </a:ext>
            </a:extLst>
          </p:cNvPr>
          <p:cNvSpPr txBox="1">
            <a:spLocks/>
          </p:cNvSpPr>
          <p:nvPr/>
        </p:nvSpPr>
        <p:spPr>
          <a:xfrm>
            <a:off x="300853" y="90644"/>
            <a:ext cx="10492382" cy="381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/>
            <a:r>
              <a:rPr lang="vi-VN" sz="2800" dirty="0" err="1">
                <a:solidFill>
                  <a:srgbClr val="002060"/>
                </a:solidFill>
                <a:latin typeface="Arial Rounded MT Bold" panose="020F0704030504030204" pitchFamily="34" charset="0"/>
              </a:rPr>
              <a:t>Schematic</a:t>
            </a:r>
            <a:r>
              <a:rPr lang="vi-VN" sz="2800" dirty="0">
                <a:solidFill>
                  <a:srgbClr val="002060"/>
                </a:solidFill>
                <a:latin typeface="Arial Rounded MT Bold" panose="020F0704030504030204" pitchFamily="34" charset="0"/>
              </a:rPr>
              <a:t> </a:t>
            </a:r>
            <a:r>
              <a:rPr lang="vi-VN" sz="2800" dirty="0" err="1">
                <a:solidFill>
                  <a:srgbClr val="002060"/>
                </a:solidFill>
                <a:latin typeface="Arial Rounded MT Bold" panose="020F0704030504030204" pitchFamily="34" charset="0"/>
              </a:rPr>
              <a:t>with</a:t>
            </a:r>
            <a:r>
              <a:rPr lang="vi-VN" sz="2800" dirty="0">
                <a:solidFill>
                  <a:srgbClr val="002060"/>
                </a:solidFill>
                <a:latin typeface="Arial Rounded MT Bold" panose="020F0704030504030204" pitchFamily="34" charset="0"/>
              </a:rPr>
              <a:t> W/L </a:t>
            </a:r>
            <a:r>
              <a:rPr lang="vi-VN" sz="2800" dirty="0" err="1">
                <a:solidFill>
                  <a:srgbClr val="002060"/>
                </a:solidFill>
                <a:latin typeface="Arial Rounded MT Bold" panose="020F0704030504030204" pitchFamily="34" charset="0"/>
              </a:rPr>
              <a:t>ratio</a:t>
            </a:r>
            <a:endParaRPr lang="vi-VN" sz="2800" dirty="0">
              <a:solidFill>
                <a:srgbClr val="002060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7" name="Hình ảnh 6">
            <a:extLst>
              <a:ext uri="{FF2B5EF4-FFF2-40B4-BE49-F238E27FC236}">
                <a16:creationId xmlns:a16="http://schemas.microsoft.com/office/drawing/2014/main" id="{34554946-4297-2641-A562-20E3CD577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9314" y="638881"/>
            <a:ext cx="6473371" cy="5580238"/>
          </a:xfrm>
          <a:prstGeom prst="rect">
            <a:avLst/>
          </a:prstGeom>
        </p:spPr>
      </p:pic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901E8AAA-A365-0A8D-5170-0E041AD34601}"/>
              </a:ext>
            </a:extLst>
          </p:cNvPr>
          <p:cNvSpPr txBox="1"/>
          <p:nvPr/>
        </p:nvSpPr>
        <p:spPr>
          <a:xfrm>
            <a:off x="300852" y="807331"/>
            <a:ext cx="3173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800" dirty="0"/>
              <a:t>I </a:t>
            </a:r>
            <a:r>
              <a:rPr lang="vi-VN" sz="1800" dirty="0" err="1"/>
              <a:t>choose</a:t>
            </a:r>
            <a:r>
              <a:rPr lang="vi-VN" sz="1800" dirty="0"/>
              <a:t> L=1um </a:t>
            </a:r>
            <a:r>
              <a:rPr lang="vi-VN" sz="1800" dirty="0" err="1"/>
              <a:t>for</a:t>
            </a:r>
            <a:r>
              <a:rPr lang="vi-VN" sz="1800" dirty="0"/>
              <a:t> </a:t>
            </a:r>
            <a:r>
              <a:rPr lang="vi-VN" sz="1800" dirty="0" err="1"/>
              <a:t>all</a:t>
            </a:r>
            <a:r>
              <a:rPr lang="vi-VN" sz="1800" dirty="0"/>
              <a:t> </a:t>
            </a:r>
            <a:r>
              <a:rPr lang="vi-VN" sz="1800" dirty="0" err="1"/>
              <a:t>mos</a:t>
            </a:r>
            <a:endParaRPr lang="en-US" sz="1800" dirty="0"/>
          </a:p>
        </p:txBody>
      </p:sp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4F0B92C9-157D-D1D2-8B9B-7DB61644652D}"/>
              </a:ext>
            </a:extLst>
          </p:cNvPr>
          <p:cNvSpPr txBox="1"/>
          <p:nvPr/>
        </p:nvSpPr>
        <p:spPr>
          <a:xfrm>
            <a:off x="5547360" y="4439920"/>
            <a:ext cx="812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>
                <a:solidFill>
                  <a:schemeClr val="bg2"/>
                </a:solidFill>
              </a:rPr>
              <a:t>W=6u</a:t>
            </a:r>
          </a:p>
          <a:p>
            <a:r>
              <a:rPr lang="vi-VN" dirty="0">
                <a:solidFill>
                  <a:schemeClr val="bg2"/>
                </a:solidFill>
              </a:rPr>
              <a:t>L=1u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7E75301F-3602-DB14-F8A7-F168CDE421F6}"/>
              </a:ext>
            </a:extLst>
          </p:cNvPr>
          <p:cNvSpPr txBox="1"/>
          <p:nvPr/>
        </p:nvSpPr>
        <p:spPr>
          <a:xfrm>
            <a:off x="4786201" y="3041312"/>
            <a:ext cx="812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>
                <a:solidFill>
                  <a:schemeClr val="bg2"/>
                </a:solidFill>
              </a:rPr>
              <a:t>W=10u</a:t>
            </a:r>
          </a:p>
          <a:p>
            <a:r>
              <a:rPr lang="vi-VN" dirty="0">
                <a:solidFill>
                  <a:schemeClr val="bg2"/>
                </a:solidFill>
              </a:rPr>
              <a:t>L=1u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E22EAB8C-26EF-2AAB-3B73-59D979A5DD2E}"/>
              </a:ext>
            </a:extLst>
          </p:cNvPr>
          <p:cNvSpPr txBox="1"/>
          <p:nvPr/>
        </p:nvSpPr>
        <p:spPr>
          <a:xfrm>
            <a:off x="6322290" y="3429000"/>
            <a:ext cx="812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>
                <a:solidFill>
                  <a:schemeClr val="bg2"/>
                </a:solidFill>
              </a:rPr>
              <a:t>W=10u</a:t>
            </a:r>
          </a:p>
          <a:p>
            <a:r>
              <a:rPr lang="vi-VN" dirty="0">
                <a:solidFill>
                  <a:schemeClr val="bg2"/>
                </a:solidFill>
              </a:rPr>
              <a:t>L=1u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C5031247-8359-C05F-2540-4A29AA478CAF}"/>
              </a:ext>
            </a:extLst>
          </p:cNvPr>
          <p:cNvSpPr txBox="1"/>
          <p:nvPr/>
        </p:nvSpPr>
        <p:spPr>
          <a:xfrm>
            <a:off x="8519885" y="4314720"/>
            <a:ext cx="812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>
                <a:solidFill>
                  <a:schemeClr val="bg2"/>
                </a:solidFill>
              </a:rPr>
              <a:t>W=78u</a:t>
            </a:r>
          </a:p>
          <a:p>
            <a:r>
              <a:rPr lang="vi-VN" dirty="0">
                <a:solidFill>
                  <a:schemeClr val="bg2"/>
                </a:solidFill>
              </a:rPr>
              <a:t>L=1u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3FBE822E-B847-0AF1-61B2-8B3E24D49351}"/>
              </a:ext>
            </a:extLst>
          </p:cNvPr>
          <p:cNvSpPr txBox="1"/>
          <p:nvPr/>
        </p:nvSpPr>
        <p:spPr>
          <a:xfrm>
            <a:off x="6095999" y="1343872"/>
            <a:ext cx="812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>
                <a:solidFill>
                  <a:schemeClr val="bg2"/>
                </a:solidFill>
              </a:rPr>
              <a:t>W=4u</a:t>
            </a:r>
          </a:p>
          <a:p>
            <a:r>
              <a:rPr lang="vi-VN" dirty="0">
                <a:solidFill>
                  <a:schemeClr val="bg2"/>
                </a:solidFill>
              </a:rPr>
              <a:t>L=1u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B87EBBD6-8DE4-8FFA-76AA-784122AC4C67}"/>
              </a:ext>
            </a:extLst>
          </p:cNvPr>
          <p:cNvSpPr txBox="1"/>
          <p:nvPr/>
        </p:nvSpPr>
        <p:spPr>
          <a:xfrm>
            <a:off x="8519885" y="1758451"/>
            <a:ext cx="9134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>
                <a:solidFill>
                  <a:schemeClr val="bg2"/>
                </a:solidFill>
              </a:rPr>
              <a:t>W=104u</a:t>
            </a:r>
            <a:endParaRPr lang="vi-VN" dirty="0">
              <a:solidFill>
                <a:schemeClr val="bg2"/>
              </a:solidFill>
            </a:endParaRPr>
          </a:p>
          <a:p>
            <a:r>
              <a:rPr lang="vi-VN" dirty="0">
                <a:solidFill>
                  <a:schemeClr val="bg2"/>
                </a:solidFill>
              </a:rPr>
              <a:t>L=1u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4EC992CC-068D-30B0-6DAA-BFA78E1464AC}"/>
              </a:ext>
            </a:extLst>
          </p:cNvPr>
          <p:cNvSpPr txBox="1"/>
          <p:nvPr/>
        </p:nvSpPr>
        <p:spPr>
          <a:xfrm>
            <a:off x="4125801" y="1910851"/>
            <a:ext cx="812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>
                <a:solidFill>
                  <a:schemeClr val="bg2"/>
                </a:solidFill>
              </a:rPr>
              <a:t>W=4u</a:t>
            </a:r>
          </a:p>
          <a:p>
            <a:r>
              <a:rPr lang="vi-VN" dirty="0">
                <a:solidFill>
                  <a:schemeClr val="bg2"/>
                </a:solidFill>
              </a:rPr>
              <a:t>L=1u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3" name="Hộp Văn bản 12">
            <a:extLst>
              <a:ext uri="{FF2B5EF4-FFF2-40B4-BE49-F238E27FC236}">
                <a16:creationId xmlns:a16="http://schemas.microsoft.com/office/drawing/2014/main" id="{3C253A79-817A-C142-58FF-9018547D6D05}"/>
              </a:ext>
            </a:extLst>
          </p:cNvPr>
          <p:cNvSpPr txBox="1"/>
          <p:nvPr/>
        </p:nvSpPr>
        <p:spPr>
          <a:xfrm>
            <a:off x="2452914" y="4439920"/>
            <a:ext cx="812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>
                <a:solidFill>
                  <a:schemeClr val="bg2"/>
                </a:solidFill>
              </a:rPr>
              <a:t>W=6u</a:t>
            </a:r>
          </a:p>
          <a:p>
            <a:r>
              <a:rPr lang="vi-VN" dirty="0">
                <a:solidFill>
                  <a:schemeClr val="bg2"/>
                </a:solidFill>
              </a:rPr>
              <a:t>L=1u</a:t>
            </a:r>
            <a:endParaRPr lang="en-US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7453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6EAD4-10D5-51F2-C118-BC39C31E6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92;p9">
            <a:extLst>
              <a:ext uri="{FF2B5EF4-FFF2-40B4-BE49-F238E27FC236}">
                <a16:creationId xmlns:a16="http://schemas.microsoft.com/office/drawing/2014/main" id="{4D556C84-3B95-E89B-5679-1699178B3BD5}"/>
              </a:ext>
            </a:extLst>
          </p:cNvPr>
          <p:cNvSpPr txBox="1">
            <a:spLocks/>
          </p:cNvSpPr>
          <p:nvPr/>
        </p:nvSpPr>
        <p:spPr>
          <a:xfrm>
            <a:off x="300853" y="90644"/>
            <a:ext cx="10492382" cy="381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/>
            <a:r>
              <a:rPr lang="vi-VN" sz="2800" dirty="0" err="1">
                <a:solidFill>
                  <a:srgbClr val="002060"/>
                </a:solidFill>
                <a:latin typeface="Arial Rounded MT Bold" panose="020F0704030504030204" pitchFamily="34" charset="0"/>
              </a:rPr>
              <a:t>Schematic</a:t>
            </a:r>
            <a:r>
              <a:rPr lang="vi-VN" sz="2800" dirty="0">
                <a:solidFill>
                  <a:srgbClr val="002060"/>
                </a:solidFill>
                <a:latin typeface="Arial Rounded MT Bold" panose="020F0704030504030204" pitchFamily="34" charset="0"/>
              </a:rPr>
              <a:t> in </a:t>
            </a:r>
            <a:r>
              <a:rPr lang="vi-VN" sz="2800" dirty="0" err="1">
                <a:solidFill>
                  <a:srgbClr val="002060"/>
                </a:solidFill>
                <a:latin typeface="Arial Rounded MT Bold" panose="020F0704030504030204" pitchFamily="34" charset="0"/>
              </a:rPr>
              <a:t>Cadence</a:t>
            </a:r>
            <a:endParaRPr lang="vi-VN" sz="2800" dirty="0">
              <a:solidFill>
                <a:srgbClr val="002060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14" name="Hình ảnh 13">
            <a:extLst>
              <a:ext uri="{FF2B5EF4-FFF2-40B4-BE49-F238E27FC236}">
                <a16:creationId xmlns:a16="http://schemas.microsoft.com/office/drawing/2014/main" id="{E9537584-B528-5EB9-F8A0-8442194319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729" y="711855"/>
            <a:ext cx="10326541" cy="5772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6278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2BCBD-FC03-C29D-0993-85B6D433A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92;p9">
            <a:extLst>
              <a:ext uri="{FF2B5EF4-FFF2-40B4-BE49-F238E27FC236}">
                <a16:creationId xmlns:a16="http://schemas.microsoft.com/office/drawing/2014/main" id="{1E3CD3AD-4DF2-EFFD-65B5-BA130FB57DDE}"/>
              </a:ext>
            </a:extLst>
          </p:cNvPr>
          <p:cNvSpPr txBox="1">
            <a:spLocks/>
          </p:cNvSpPr>
          <p:nvPr/>
        </p:nvSpPr>
        <p:spPr>
          <a:xfrm>
            <a:off x="300853" y="90644"/>
            <a:ext cx="10492382" cy="381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/>
            <a:r>
              <a:rPr lang="vi-VN" sz="2800" dirty="0" err="1">
                <a:solidFill>
                  <a:srgbClr val="002060"/>
                </a:solidFill>
                <a:latin typeface="Arial Rounded MT Bold" panose="020F0704030504030204" pitchFamily="34" charset="0"/>
              </a:rPr>
              <a:t>Testbench</a:t>
            </a:r>
            <a:r>
              <a:rPr lang="vi-VN" sz="2800" dirty="0">
                <a:solidFill>
                  <a:srgbClr val="002060"/>
                </a:solidFill>
                <a:latin typeface="Arial Rounded MT Bold" panose="020F0704030504030204" pitchFamily="34" charset="0"/>
              </a:rPr>
              <a:t> in </a:t>
            </a:r>
            <a:r>
              <a:rPr lang="vi-VN" sz="2800" dirty="0" err="1">
                <a:solidFill>
                  <a:srgbClr val="002060"/>
                </a:solidFill>
                <a:latin typeface="Arial Rounded MT Bold" panose="020F0704030504030204" pitchFamily="34" charset="0"/>
              </a:rPr>
              <a:t>Cadence</a:t>
            </a:r>
            <a:endParaRPr lang="vi-VN" sz="2800" dirty="0">
              <a:solidFill>
                <a:srgbClr val="002060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3" name="Hình ảnh 2">
            <a:extLst>
              <a:ext uri="{FF2B5EF4-FFF2-40B4-BE49-F238E27FC236}">
                <a16:creationId xmlns:a16="http://schemas.microsoft.com/office/drawing/2014/main" id="{1A72D8E4-D03D-C7DA-8CD4-09CB8AC56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966" y="1271286"/>
            <a:ext cx="10698068" cy="4315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5021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F26E5-2691-79BB-BEAE-9651BC815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92;p9">
            <a:extLst>
              <a:ext uri="{FF2B5EF4-FFF2-40B4-BE49-F238E27FC236}">
                <a16:creationId xmlns:a16="http://schemas.microsoft.com/office/drawing/2014/main" id="{E8A67797-885F-FDD5-6C99-05262395A5D5}"/>
              </a:ext>
            </a:extLst>
          </p:cNvPr>
          <p:cNvSpPr txBox="1">
            <a:spLocks/>
          </p:cNvSpPr>
          <p:nvPr/>
        </p:nvSpPr>
        <p:spPr>
          <a:xfrm>
            <a:off x="300853" y="90644"/>
            <a:ext cx="10492382" cy="381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/>
            <a:r>
              <a:rPr lang="vi-VN" sz="2800" dirty="0" err="1">
                <a:solidFill>
                  <a:srgbClr val="002060"/>
                </a:solidFill>
                <a:latin typeface="Arial Rounded MT Bold" panose="020F0704030504030204" pitchFamily="34" charset="0"/>
              </a:rPr>
              <a:t>Testbench</a:t>
            </a:r>
            <a:r>
              <a:rPr lang="vi-VN" sz="2800" dirty="0">
                <a:solidFill>
                  <a:srgbClr val="002060"/>
                </a:solidFill>
                <a:latin typeface="Arial Rounded MT Bold" panose="020F0704030504030204" pitchFamily="34" charset="0"/>
              </a:rPr>
              <a:t> in </a:t>
            </a:r>
            <a:r>
              <a:rPr lang="vi-VN" sz="2800" dirty="0" err="1">
                <a:solidFill>
                  <a:srgbClr val="002060"/>
                </a:solidFill>
                <a:latin typeface="Arial Rounded MT Bold" panose="020F0704030504030204" pitchFamily="34" charset="0"/>
              </a:rPr>
              <a:t>Cadence</a:t>
            </a:r>
            <a:endParaRPr lang="vi-VN" sz="2800" dirty="0">
              <a:solidFill>
                <a:srgbClr val="002060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6" name="Hình ảnh 5">
            <a:extLst>
              <a:ext uri="{FF2B5EF4-FFF2-40B4-BE49-F238E27FC236}">
                <a16:creationId xmlns:a16="http://schemas.microsoft.com/office/drawing/2014/main" id="{24793F89-8155-D1FE-52E9-03D6946BF2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678" y="823549"/>
            <a:ext cx="8916644" cy="5210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4382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15C55-D937-1E73-CEBE-0C51FA9FC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92;p9">
            <a:extLst>
              <a:ext uri="{FF2B5EF4-FFF2-40B4-BE49-F238E27FC236}">
                <a16:creationId xmlns:a16="http://schemas.microsoft.com/office/drawing/2014/main" id="{E77630DB-DF74-A48F-51CB-622EE4939B55}"/>
              </a:ext>
            </a:extLst>
          </p:cNvPr>
          <p:cNvSpPr txBox="1">
            <a:spLocks/>
          </p:cNvSpPr>
          <p:nvPr/>
        </p:nvSpPr>
        <p:spPr>
          <a:xfrm>
            <a:off x="300853" y="90644"/>
            <a:ext cx="10492382" cy="381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/>
            <a:r>
              <a:rPr lang="vi-VN" sz="2800" dirty="0" err="1">
                <a:solidFill>
                  <a:srgbClr val="002060"/>
                </a:solidFill>
                <a:latin typeface="Arial Rounded MT Bold" panose="020F0704030504030204" pitchFamily="34" charset="0"/>
              </a:rPr>
              <a:t>Testbench</a:t>
            </a:r>
            <a:r>
              <a:rPr lang="vi-VN" sz="2800" dirty="0">
                <a:solidFill>
                  <a:srgbClr val="002060"/>
                </a:solidFill>
                <a:latin typeface="Arial Rounded MT Bold" panose="020F0704030504030204" pitchFamily="34" charset="0"/>
              </a:rPr>
              <a:t> in </a:t>
            </a:r>
            <a:r>
              <a:rPr lang="vi-VN" sz="2800" dirty="0" err="1">
                <a:solidFill>
                  <a:srgbClr val="002060"/>
                </a:solidFill>
                <a:latin typeface="Arial Rounded MT Bold" panose="020F0704030504030204" pitchFamily="34" charset="0"/>
              </a:rPr>
              <a:t>Cadence</a:t>
            </a:r>
            <a:endParaRPr lang="vi-VN" sz="2800" dirty="0">
              <a:solidFill>
                <a:srgbClr val="002060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3" name="Hình ảnh 2">
            <a:extLst>
              <a:ext uri="{FF2B5EF4-FFF2-40B4-BE49-F238E27FC236}">
                <a16:creationId xmlns:a16="http://schemas.microsoft.com/office/drawing/2014/main" id="{F9259B30-6F8D-6E82-7FCF-5006A755C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072" y="1014075"/>
            <a:ext cx="9535856" cy="482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9335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CD9-29A4-5A8E-A335-FCDE9A3C7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92;p9">
            <a:extLst>
              <a:ext uri="{FF2B5EF4-FFF2-40B4-BE49-F238E27FC236}">
                <a16:creationId xmlns:a16="http://schemas.microsoft.com/office/drawing/2014/main" id="{4D379594-E29A-D9B4-3D6E-D06864C9D78C}"/>
              </a:ext>
            </a:extLst>
          </p:cNvPr>
          <p:cNvSpPr txBox="1">
            <a:spLocks/>
          </p:cNvSpPr>
          <p:nvPr/>
        </p:nvSpPr>
        <p:spPr>
          <a:xfrm>
            <a:off x="300853" y="90644"/>
            <a:ext cx="10492382" cy="381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/>
            <a:r>
              <a:rPr lang="vi-VN" sz="2800" dirty="0" err="1">
                <a:solidFill>
                  <a:srgbClr val="002060"/>
                </a:solidFill>
                <a:latin typeface="Arial Rounded MT Bold" panose="020F0704030504030204" pitchFamily="34" charset="0"/>
              </a:rPr>
              <a:t>Testbench</a:t>
            </a:r>
            <a:r>
              <a:rPr lang="vi-VN" sz="2800" dirty="0">
                <a:solidFill>
                  <a:srgbClr val="002060"/>
                </a:solidFill>
                <a:latin typeface="Arial Rounded MT Bold" panose="020F0704030504030204" pitchFamily="34" charset="0"/>
              </a:rPr>
              <a:t> in </a:t>
            </a:r>
            <a:r>
              <a:rPr lang="vi-VN" sz="2800" dirty="0" err="1">
                <a:solidFill>
                  <a:srgbClr val="002060"/>
                </a:solidFill>
                <a:latin typeface="Arial Rounded MT Bold" panose="020F0704030504030204" pitchFamily="34" charset="0"/>
              </a:rPr>
              <a:t>Cadence</a:t>
            </a:r>
            <a:endParaRPr lang="vi-VN" sz="2800" dirty="0">
              <a:solidFill>
                <a:srgbClr val="002060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7" name="Hình ảnh 6">
            <a:extLst>
              <a:ext uri="{FF2B5EF4-FFF2-40B4-BE49-F238E27FC236}">
                <a16:creationId xmlns:a16="http://schemas.microsoft.com/office/drawing/2014/main" id="{F08A1511-9E13-02B8-3A8B-373F1C35C5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853" y="964304"/>
            <a:ext cx="8116433" cy="5268060"/>
          </a:xfrm>
          <a:prstGeom prst="rect">
            <a:avLst/>
          </a:prstGeom>
        </p:spPr>
      </p:pic>
      <p:pic>
        <p:nvPicPr>
          <p:cNvPr id="4" name="Hình ảnh 3">
            <a:extLst>
              <a:ext uri="{FF2B5EF4-FFF2-40B4-BE49-F238E27FC236}">
                <a16:creationId xmlns:a16="http://schemas.microsoft.com/office/drawing/2014/main" id="{388BCCF6-E4D3-E472-887F-3639EF1AA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4887" y="1380839"/>
            <a:ext cx="5287113" cy="2048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9346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16DF9-B9D0-0AD0-BC0E-F8BFD38BC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92;p9">
            <a:extLst>
              <a:ext uri="{FF2B5EF4-FFF2-40B4-BE49-F238E27FC236}">
                <a16:creationId xmlns:a16="http://schemas.microsoft.com/office/drawing/2014/main" id="{5D473CF9-8B74-50A2-DEB4-74DAADEE3D2F}"/>
              </a:ext>
            </a:extLst>
          </p:cNvPr>
          <p:cNvSpPr txBox="1">
            <a:spLocks/>
          </p:cNvSpPr>
          <p:nvPr/>
        </p:nvSpPr>
        <p:spPr>
          <a:xfrm>
            <a:off x="300853" y="90644"/>
            <a:ext cx="10492382" cy="381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/>
            <a:r>
              <a:rPr lang="vi-VN" sz="2800" dirty="0" err="1">
                <a:solidFill>
                  <a:srgbClr val="002060"/>
                </a:solidFill>
                <a:latin typeface="Arial Rounded MT Bold" panose="020F0704030504030204" pitchFamily="34" charset="0"/>
              </a:rPr>
              <a:t>Open</a:t>
            </a:r>
            <a:r>
              <a:rPr lang="vi-VN" sz="2800" dirty="0">
                <a:solidFill>
                  <a:srgbClr val="002060"/>
                </a:solidFill>
                <a:latin typeface="Arial Rounded MT Bold" panose="020F0704030504030204" pitchFamily="34" charset="0"/>
              </a:rPr>
              <a:t> </a:t>
            </a:r>
            <a:r>
              <a:rPr lang="vi-VN" sz="2800" dirty="0" err="1">
                <a:solidFill>
                  <a:srgbClr val="002060"/>
                </a:solidFill>
                <a:latin typeface="Arial Rounded MT Bold" panose="020F0704030504030204" pitchFamily="34" charset="0"/>
              </a:rPr>
              <a:t>loop</a:t>
            </a:r>
            <a:r>
              <a:rPr lang="vi-VN" sz="2800" dirty="0">
                <a:solidFill>
                  <a:srgbClr val="002060"/>
                </a:solidFill>
                <a:latin typeface="Arial Rounded MT Bold" panose="020F0704030504030204" pitchFamily="34" charset="0"/>
              </a:rPr>
              <a:t> </a:t>
            </a:r>
            <a:r>
              <a:rPr lang="vi-VN" sz="2800" dirty="0" err="1">
                <a:solidFill>
                  <a:srgbClr val="002060"/>
                </a:solidFill>
                <a:latin typeface="Arial Rounded MT Bold" panose="020F0704030504030204" pitchFamily="34" charset="0"/>
              </a:rPr>
              <a:t>Gain</a:t>
            </a:r>
            <a:endParaRPr lang="vi-VN" sz="2800" dirty="0">
              <a:solidFill>
                <a:srgbClr val="002060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3" name="Hình ảnh 2">
            <a:extLst>
              <a:ext uri="{FF2B5EF4-FFF2-40B4-BE49-F238E27FC236}">
                <a16:creationId xmlns:a16="http://schemas.microsoft.com/office/drawing/2014/main" id="{877014CF-192E-F431-11B6-E77226041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8061"/>
            <a:ext cx="12192000" cy="4061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9993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AA18E-8AE6-BB12-A6CA-0833FAA9D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92;p9">
            <a:extLst>
              <a:ext uri="{FF2B5EF4-FFF2-40B4-BE49-F238E27FC236}">
                <a16:creationId xmlns:a16="http://schemas.microsoft.com/office/drawing/2014/main" id="{122FD2F4-24FB-C605-9247-B80C23611208}"/>
              </a:ext>
            </a:extLst>
          </p:cNvPr>
          <p:cNvSpPr txBox="1">
            <a:spLocks/>
          </p:cNvSpPr>
          <p:nvPr/>
        </p:nvSpPr>
        <p:spPr>
          <a:xfrm>
            <a:off x="300853" y="90644"/>
            <a:ext cx="10492382" cy="381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/>
            <a:r>
              <a:rPr lang="vi-VN" sz="2800" dirty="0" err="1">
                <a:solidFill>
                  <a:srgbClr val="002060"/>
                </a:solidFill>
                <a:latin typeface="Arial Rounded MT Bold" panose="020F0704030504030204" pitchFamily="34" charset="0"/>
              </a:rPr>
              <a:t>Closed</a:t>
            </a:r>
            <a:r>
              <a:rPr lang="vi-VN" sz="2800" dirty="0">
                <a:solidFill>
                  <a:srgbClr val="002060"/>
                </a:solidFill>
                <a:latin typeface="Arial Rounded MT Bold" panose="020F0704030504030204" pitchFamily="34" charset="0"/>
              </a:rPr>
              <a:t> </a:t>
            </a:r>
            <a:r>
              <a:rPr lang="vi-VN" sz="2800" dirty="0" err="1">
                <a:solidFill>
                  <a:srgbClr val="002060"/>
                </a:solidFill>
                <a:latin typeface="Arial Rounded MT Bold" panose="020F0704030504030204" pitchFamily="34" charset="0"/>
              </a:rPr>
              <a:t>loop</a:t>
            </a:r>
            <a:r>
              <a:rPr lang="vi-VN" sz="2800" dirty="0">
                <a:solidFill>
                  <a:srgbClr val="002060"/>
                </a:solidFill>
                <a:latin typeface="Arial Rounded MT Bold" panose="020F0704030504030204" pitchFamily="34" charset="0"/>
              </a:rPr>
              <a:t> </a:t>
            </a:r>
            <a:r>
              <a:rPr lang="vi-VN" sz="2800" dirty="0" err="1">
                <a:solidFill>
                  <a:srgbClr val="002060"/>
                </a:solidFill>
                <a:latin typeface="Arial Rounded MT Bold" panose="020F0704030504030204" pitchFamily="34" charset="0"/>
              </a:rPr>
              <a:t>Gain</a:t>
            </a:r>
            <a:endParaRPr lang="vi-VN" sz="2800" dirty="0">
              <a:solidFill>
                <a:srgbClr val="002060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4" name="Hình ảnh 3">
            <a:extLst>
              <a:ext uri="{FF2B5EF4-FFF2-40B4-BE49-F238E27FC236}">
                <a16:creationId xmlns:a16="http://schemas.microsoft.com/office/drawing/2014/main" id="{AD2E6889-008B-D88A-39CE-093D2209A9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5938"/>
            <a:ext cx="12192000" cy="4066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1056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BCB8A-3575-3A1E-0926-B199C3EA3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92;p9">
            <a:extLst>
              <a:ext uri="{FF2B5EF4-FFF2-40B4-BE49-F238E27FC236}">
                <a16:creationId xmlns:a16="http://schemas.microsoft.com/office/drawing/2014/main" id="{FC35B9B2-2A8E-B2CE-65B1-39EE23AD628A}"/>
              </a:ext>
            </a:extLst>
          </p:cNvPr>
          <p:cNvSpPr txBox="1">
            <a:spLocks/>
          </p:cNvSpPr>
          <p:nvPr/>
        </p:nvSpPr>
        <p:spPr>
          <a:xfrm>
            <a:off x="300853" y="90644"/>
            <a:ext cx="10492382" cy="381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/>
            <a:r>
              <a:rPr lang="vi-VN" sz="2800" dirty="0">
                <a:solidFill>
                  <a:srgbClr val="002060"/>
                </a:solidFill>
                <a:latin typeface="Arial Rounded MT Bold" panose="020F0704030504030204" pitchFamily="34" charset="0"/>
              </a:rPr>
              <a:t>PSRR</a:t>
            </a:r>
          </a:p>
        </p:txBody>
      </p:sp>
      <p:pic>
        <p:nvPicPr>
          <p:cNvPr id="3" name="Hình ảnh 2">
            <a:extLst>
              <a:ext uri="{FF2B5EF4-FFF2-40B4-BE49-F238E27FC236}">
                <a16:creationId xmlns:a16="http://schemas.microsoft.com/office/drawing/2014/main" id="{866A3841-D47A-0E60-63CE-43212198B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0004"/>
            <a:ext cx="12192000" cy="4097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5350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CF174-EE41-8095-AA9F-E746D33A7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92;p9">
            <a:extLst>
              <a:ext uri="{FF2B5EF4-FFF2-40B4-BE49-F238E27FC236}">
                <a16:creationId xmlns:a16="http://schemas.microsoft.com/office/drawing/2014/main" id="{3FB89D32-048C-DAAE-01C0-A5AA979A8142}"/>
              </a:ext>
            </a:extLst>
          </p:cNvPr>
          <p:cNvSpPr txBox="1">
            <a:spLocks/>
          </p:cNvSpPr>
          <p:nvPr/>
        </p:nvSpPr>
        <p:spPr>
          <a:xfrm>
            <a:off x="300853" y="90644"/>
            <a:ext cx="10492382" cy="381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/>
            <a:r>
              <a:rPr lang="vi-VN" sz="2800" dirty="0" err="1">
                <a:solidFill>
                  <a:srgbClr val="002060"/>
                </a:solidFill>
                <a:latin typeface="Arial Rounded MT Bold" panose="020F0704030504030204" pitchFamily="34" charset="0"/>
              </a:rPr>
              <a:t>Noise</a:t>
            </a:r>
            <a:endParaRPr lang="vi-VN" sz="2800" dirty="0">
              <a:solidFill>
                <a:srgbClr val="002060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4" name="Hình ảnh 3">
            <a:extLst>
              <a:ext uri="{FF2B5EF4-FFF2-40B4-BE49-F238E27FC236}">
                <a16:creationId xmlns:a16="http://schemas.microsoft.com/office/drawing/2014/main" id="{012A604E-BF16-6D63-FC8D-F304883896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7821"/>
            <a:ext cx="12192000" cy="4142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2968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66809-09C1-AC23-3339-50FB6FFC9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92;p9">
            <a:extLst>
              <a:ext uri="{FF2B5EF4-FFF2-40B4-BE49-F238E27FC236}">
                <a16:creationId xmlns:a16="http://schemas.microsoft.com/office/drawing/2014/main" id="{B1BDC925-9761-36ED-7016-38453AD7DF00}"/>
              </a:ext>
            </a:extLst>
          </p:cNvPr>
          <p:cNvSpPr txBox="1">
            <a:spLocks/>
          </p:cNvSpPr>
          <p:nvPr/>
        </p:nvSpPr>
        <p:spPr>
          <a:xfrm>
            <a:off x="300853" y="90644"/>
            <a:ext cx="10492382" cy="381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/>
            <a:r>
              <a:rPr lang="vi-VN" sz="2800" dirty="0" err="1">
                <a:solidFill>
                  <a:srgbClr val="002060"/>
                </a:solidFill>
                <a:latin typeface="Arial Rounded MT Bold" panose="020F0704030504030204" pitchFamily="34" charset="0"/>
              </a:rPr>
              <a:t>Tranient</a:t>
            </a:r>
            <a:r>
              <a:rPr lang="vi-VN" sz="2800" dirty="0">
                <a:solidFill>
                  <a:srgbClr val="002060"/>
                </a:solidFill>
                <a:latin typeface="Arial Rounded MT Bold" panose="020F0704030504030204" pitchFamily="34" charset="0"/>
              </a:rPr>
              <a:t> </a:t>
            </a:r>
            <a:r>
              <a:rPr lang="vi-VN" sz="2800" dirty="0" err="1">
                <a:solidFill>
                  <a:srgbClr val="002060"/>
                </a:solidFill>
                <a:latin typeface="Arial Rounded MT Bold" panose="020F0704030504030204" pitchFamily="34" charset="0"/>
              </a:rPr>
              <a:t>Swing</a:t>
            </a:r>
            <a:endParaRPr lang="vi-VN" sz="2800" dirty="0">
              <a:solidFill>
                <a:srgbClr val="002060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3" name="Hình ảnh 2">
            <a:extLst>
              <a:ext uri="{FF2B5EF4-FFF2-40B4-BE49-F238E27FC236}">
                <a16:creationId xmlns:a16="http://schemas.microsoft.com/office/drawing/2014/main" id="{7420091C-9E53-F255-52D6-72CF7EAF4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9124"/>
            <a:ext cx="12192000" cy="4059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0245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E9A90-C2F2-3F10-53B4-790A349C0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92;p9">
            <a:extLst>
              <a:ext uri="{FF2B5EF4-FFF2-40B4-BE49-F238E27FC236}">
                <a16:creationId xmlns:a16="http://schemas.microsoft.com/office/drawing/2014/main" id="{0F2F7E9E-D5C8-5EC8-296B-56C83EABB671}"/>
              </a:ext>
            </a:extLst>
          </p:cNvPr>
          <p:cNvSpPr txBox="1">
            <a:spLocks/>
          </p:cNvSpPr>
          <p:nvPr/>
        </p:nvSpPr>
        <p:spPr>
          <a:xfrm>
            <a:off x="300853" y="90644"/>
            <a:ext cx="10492382" cy="381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/>
            <a:r>
              <a:rPr lang="vi-VN" sz="2800" dirty="0" err="1">
                <a:solidFill>
                  <a:srgbClr val="002060"/>
                </a:solidFill>
                <a:latin typeface="Arial Rounded MT Bold" panose="020F0704030504030204" pitchFamily="34" charset="0"/>
              </a:rPr>
              <a:t>Slew</a:t>
            </a:r>
            <a:r>
              <a:rPr lang="vi-VN" sz="2800" dirty="0">
                <a:solidFill>
                  <a:srgbClr val="002060"/>
                </a:solidFill>
                <a:latin typeface="Arial Rounded MT Bold" panose="020F0704030504030204" pitchFamily="34" charset="0"/>
              </a:rPr>
              <a:t> </a:t>
            </a:r>
            <a:r>
              <a:rPr lang="vi-VN" sz="2800" dirty="0" err="1">
                <a:solidFill>
                  <a:srgbClr val="002060"/>
                </a:solidFill>
                <a:latin typeface="Arial Rounded MT Bold" panose="020F0704030504030204" pitchFamily="34" charset="0"/>
              </a:rPr>
              <a:t>rate</a:t>
            </a:r>
            <a:endParaRPr lang="vi-VN" sz="2800" dirty="0">
              <a:solidFill>
                <a:srgbClr val="002060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4" name="Hình ảnh 3">
            <a:extLst>
              <a:ext uri="{FF2B5EF4-FFF2-40B4-BE49-F238E27FC236}">
                <a16:creationId xmlns:a16="http://schemas.microsoft.com/office/drawing/2014/main" id="{A5656F2B-57F8-DE54-14FA-1DE4B01BCA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0794"/>
            <a:ext cx="12192000" cy="4036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6309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576B8-3873-7526-9F53-1A24C8041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92;p9">
            <a:extLst>
              <a:ext uri="{FF2B5EF4-FFF2-40B4-BE49-F238E27FC236}">
                <a16:creationId xmlns:a16="http://schemas.microsoft.com/office/drawing/2014/main" id="{E9206729-3336-6C2A-9F46-FCFAEA9152B6}"/>
              </a:ext>
            </a:extLst>
          </p:cNvPr>
          <p:cNvSpPr txBox="1">
            <a:spLocks/>
          </p:cNvSpPr>
          <p:nvPr/>
        </p:nvSpPr>
        <p:spPr>
          <a:xfrm>
            <a:off x="300853" y="90644"/>
            <a:ext cx="10492382" cy="381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/>
            <a:r>
              <a:rPr lang="vi-VN" sz="2800" dirty="0" err="1">
                <a:solidFill>
                  <a:srgbClr val="002060"/>
                </a:solidFill>
                <a:latin typeface="Arial Rounded MT Bold" panose="020F0704030504030204" pitchFamily="34" charset="0"/>
              </a:rPr>
              <a:t>Result</a:t>
            </a:r>
            <a:endParaRPr lang="vi-VN" sz="2800" dirty="0">
              <a:solidFill>
                <a:srgbClr val="002060"/>
              </a:solidFill>
              <a:latin typeface="Arial Rounded MT Bold" panose="020F0704030504030204" pitchFamily="34" charset="0"/>
            </a:endParaRPr>
          </a:p>
        </p:txBody>
      </p:sp>
      <p:graphicFrame>
        <p:nvGraphicFramePr>
          <p:cNvPr id="6" name="Table 2">
            <a:extLst>
              <a:ext uri="{FF2B5EF4-FFF2-40B4-BE49-F238E27FC236}">
                <a16:creationId xmlns:a16="http://schemas.microsoft.com/office/drawing/2014/main" id="{51F88017-D55C-C6AE-8A4E-F1966BDF6C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0658419"/>
              </p:ext>
            </p:extLst>
          </p:nvPr>
        </p:nvGraphicFramePr>
        <p:xfrm>
          <a:off x="1176676" y="847743"/>
          <a:ext cx="9838648" cy="458547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24557">
                  <a:extLst>
                    <a:ext uri="{9D8B030D-6E8A-4147-A177-3AD203B41FA5}">
                      <a16:colId xmlns:a16="http://schemas.microsoft.com/office/drawing/2014/main" val="2940644999"/>
                    </a:ext>
                  </a:extLst>
                </a:gridCol>
                <a:gridCol w="892778">
                  <a:extLst>
                    <a:ext uri="{9D8B030D-6E8A-4147-A177-3AD203B41FA5}">
                      <a16:colId xmlns:a16="http://schemas.microsoft.com/office/drawing/2014/main" val="1459096793"/>
                    </a:ext>
                  </a:extLst>
                </a:gridCol>
                <a:gridCol w="1654686">
                  <a:extLst>
                    <a:ext uri="{9D8B030D-6E8A-4147-A177-3AD203B41FA5}">
                      <a16:colId xmlns:a16="http://schemas.microsoft.com/office/drawing/2014/main" val="1564326977"/>
                    </a:ext>
                  </a:extLst>
                </a:gridCol>
                <a:gridCol w="1528195">
                  <a:extLst>
                    <a:ext uri="{9D8B030D-6E8A-4147-A177-3AD203B41FA5}">
                      <a16:colId xmlns:a16="http://schemas.microsoft.com/office/drawing/2014/main" val="2756081489"/>
                    </a:ext>
                  </a:extLst>
                </a:gridCol>
                <a:gridCol w="1474823">
                  <a:extLst>
                    <a:ext uri="{9D8B030D-6E8A-4147-A177-3AD203B41FA5}">
                      <a16:colId xmlns:a16="http://schemas.microsoft.com/office/drawing/2014/main" val="919814007"/>
                    </a:ext>
                  </a:extLst>
                </a:gridCol>
                <a:gridCol w="1863609">
                  <a:extLst>
                    <a:ext uri="{9D8B030D-6E8A-4147-A177-3AD203B41FA5}">
                      <a16:colId xmlns:a16="http://schemas.microsoft.com/office/drawing/2014/main" val="3808035327"/>
                    </a:ext>
                  </a:extLst>
                </a:gridCol>
              </a:tblGrid>
              <a:tr h="419946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Design specification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4" marR="37024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Min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4" marR="3702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Max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4" marR="3702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Typical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4" marR="3702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Test condition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4" marR="37024" marT="0" marB="0" anchor="ctr"/>
                </a:tc>
                <a:extLst>
                  <a:ext uri="{0D108BD9-81ED-4DB2-BD59-A6C34878D82A}">
                    <a16:rowId xmlns:a16="http://schemas.microsoft.com/office/drawing/2014/main" val="2472541320"/>
                  </a:ext>
                </a:extLst>
              </a:tr>
              <a:tr h="513987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Opened-loop gain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4" marR="37024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62.64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dB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4" marR="3702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68.72dB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4" marR="3702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67.04dB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4" marR="37024" marT="0" marB="0" anchor="ctr"/>
                </a:tc>
                <a:tc rowSpan="6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In CM = </a:t>
                      </a:r>
                      <a:r>
                        <a:rPr lang="vi-VN" sz="1400" dirty="0">
                          <a:effectLst/>
                        </a:rPr>
                        <a:t>0.6</a:t>
                      </a:r>
                      <a:endParaRPr lang="en-US" sz="1400" dirty="0">
                        <a:effectLst/>
                      </a:endParaRPr>
                    </a:p>
                  </a:txBody>
                  <a:tcPr marL="37024" marR="37024" marT="0" marB="0" anchor="ctr"/>
                </a:tc>
                <a:extLst>
                  <a:ext uri="{0D108BD9-81ED-4DB2-BD59-A6C34878D82A}">
                    <a16:rowId xmlns:a16="http://schemas.microsoft.com/office/drawing/2014/main" val="2181647737"/>
                  </a:ext>
                </a:extLst>
              </a:tr>
              <a:tr h="517699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CMRR (single-ended)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4" marR="37024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89</a:t>
                      </a:r>
                      <a:r>
                        <a:rPr lang="vi-V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.35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dB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4" marR="3702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102</a:t>
                      </a:r>
                      <a:r>
                        <a:rPr lang="vi-V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.05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dB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4" marR="3702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69.88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4" marR="37024" marT="0" marB="0" anchor="ctr"/>
                </a:tc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4" marR="37024" marT="0" marB="0"/>
                </a:tc>
                <a:extLst>
                  <a:ext uri="{0D108BD9-81ED-4DB2-BD59-A6C34878D82A}">
                    <a16:rowId xmlns:a16="http://schemas.microsoft.com/office/drawing/2014/main" val="573147736"/>
                  </a:ext>
                </a:extLst>
              </a:tr>
              <a:tr h="578273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4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Slew</a:t>
                      </a:r>
                      <a:r>
                        <a:rPr lang="vi-VN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vi-VN" sz="14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rate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4" marR="37024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15.11V/</a:t>
                      </a:r>
                      <a:r>
                        <a:rPr lang="vi-VN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uS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4" marR="3702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31.15V</a:t>
                      </a:r>
                      <a:r>
                        <a:rPr lang="vi-V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/</a:t>
                      </a:r>
                      <a:r>
                        <a:rPr lang="vi-VN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uS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4" marR="3702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27V/</a:t>
                      </a:r>
                      <a:r>
                        <a:rPr lang="vi-VN" sz="14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uS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4" marR="37024" marT="0" marB="0" anchor="ctr"/>
                </a:tc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4" marR="37024" marT="0" marB="0"/>
                </a:tc>
                <a:extLst>
                  <a:ext uri="{0D108BD9-81ED-4DB2-BD59-A6C34878D82A}">
                    <a16:rowId xmlns:a16="http://schemas.microsoft.com/office/drawing/2014/main" val="2591263347"/>
                  </a:ext>
                </a:extLst>
              </a:tr>
              <a:tr h="69081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Unity gain BW</a:t>
                      </a:r>
                    </a:p>
                  </a:txBody>
                  <a:tcPr marL="37024" marR="3702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400" dirty="0">
                          <a:effectLst/>
                        </a:rPr>
                        <a:t>1p</a:t>
                      </a:r>
                      <a:endParaRPr lang="en-US" sz="1400" dirty="0">
                        <a:effectLst/>
                      </a:endParaRPr>
                    </a:p>
                  </a:txBody>
                  <a:tcPr marL="37024" marR="3702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52.75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MHz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4" marR="3702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96.73M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Hz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4" marR="3702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74.32MHz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4" marR="37024" marT="0" marB="0" anchor="ctr"/>
                </a:tc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4" marR="37024" marT="0" marB="0"/>
                </a:tc>
                <a:extLst>
                  <a:ext uri="{0D108BD9-81ED-4DB2-BD59-A6C34878D82A}">
                    <a16:rowId xmlns:a16="http://schemas.microsoft.com/office/drawing/2014/main" val="1558309100"/>
                  </a:ext>
                </a:extLst>
              </a:tr>
              <a:tr h="7339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Phase Margin</a:t>
                      </a:r>
                    </a:p>
                  </a:txBody>
                  <a:tcPr marL="37024" marR="3702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400">
                          <a:effectLst/>
                        </a:rPr>
                        <a:t>1p</a:t>
                      </a:r>
                      <a:endParaRPr lang="vi-VN" sz="1400" dirty="0">
                        <a:effectLst/>
                      </a:endParaRPr>
                    </a:p>
                  </a:txBody>
                  <a:tcPr marL="37024" marR="3702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66.02 </a:t>
                      </a: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deg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4" marR="3702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79.2 </a:t>
                      </a: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deg</a:t>
                      </a:r>
                      <a:endParaRPr lang="en-US" sz="1400" dirty="0">
                        <a:effectLst/>
                      </a:endParaRPr>
                    </a:p>
                  </a:txBody>
                  <a:tcPr marL="37024" marR="3702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400" dirty="0">
                          <a:effectLst/>
                        </a:rPr>
                        <a:t>73.09 </a:t>
                      </a:r>
                      <a:r>
                        <a:rPr lang="vi-VN" sz="1400" dirty="0" err="1">
                          <a:effectLst/>
                        </a:rPr>
                        <a:t>degree</a:t>
                      </a:r>
                      <a:endParaRPr lang="en-US" sz="1400" dirty="0">
                        <a:effectLst/>
                      </a:endParaRPr>
                    </a:p>
                  </a:txBody>
                  <a:tcPr marL="37024" marR="37024" marT="0" marB="0" anchor="ctr"/>
                </a:tc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4" marR="37024" marT="0" marB="0"/>
                </a:tc>
                <a:extLst>
                  <a:ext uri="{0D108BD9-81ED-4DB2-BD59-A6C34878D82A}">
                    <a16:rowId xmlns:a16="http://schemas.microsoft.com/office/drawing/2014/main" val="401879886"/>
                  </a:ext>
                </a:extLst>
              </a:tr>
              <a:tr h="394508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4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Closed-loop</a:t>
                      </a:r>
                      <a:r>
                        <a:rPr lang="vi-VN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vi-VN" sz="14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gain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4" marR="37024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7945" marR="3556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vi-VN" sz="14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56.17dB</a:t>
                      </a:r>
                      <a:endParaRPr lang="en-US" sz="14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37024" marR="37024" marT="0" marB="0" anchor="ctr"/>
                </a:tc>
                <a:tc>
                  <a:txBody>
                    <a:bodyPr/>
                    <a:lstStyle/>
                    <a:p>
                      <a:pPr marL="67945" marR="3556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vi-VN" sz="14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62.49dB</a:t>
                      </a:r>
                      <a:endParaRPr lang="en-US" sz="14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37024" marR="37024" marT="0" marB="0" anchor="ctr"/>
                </a:tc>
                <a:tc>
                  <a:txBody>
                    <a:bodyPr/>
                    <a:lstStyle/>
                    <a:p>
                      <a:pPr marL="67945" marR="3556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vi-VN" sz="14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60.75dB</a:t>
                      </a:r>
                      <a:endParaRPr lang="en-US" sz="14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37024" marR="37024" marT="0" marB="0" anchor="ctr"/>
                </a:tc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4" marR="37024" marT="0" marB="0"/>
                </a:tc>
                <a:extLst>
                  <a:ext uri="{0D108BD9-81ED-4DB2-BD59-A6C34878D82A}">
                    <a16:rowId xmlns:a16="http://schemas.microsoft.com/office/drawing/2014/main" val="3766011500"/>
                  </a:ext>
                </a:extLst>
              </a:tr>
              <a:tr h="736262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ICMR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4" marR="37024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-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4" marR="3702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-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4" marR="3702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0.</a:t>
                      </a:r>
                      <a:r>
                        <a:rPr lang="vi-VN" sz="1400" dirty="0">
                          <a:effectLst/>
                        </a:rPr>
                        <a:t>5</a:t>
                      </a:r>
                      <a:r>
                        <a:rPr lang="en-US" sz="1400" dirty="0">
                          <a:effectLst/>
                        </a:rPr>
                        <a:t>V to </a:t>
                      </a:r>
                      <a:r>
                        <a:rPr lang="vi-VN" sz="1400" dirty="0">
                          <a:effectLst/>
                        </a:rPr>
                        <a:t>1</a:t>
                      </a:r>
                      <a:r>
                        <a:rPr lang="en-US" sz="1400" dirty="0">
                          <a:effectLst/>
                        </a:rPr>
                        <a:t>V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4" marR="3702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TTNN corner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4" marR="37024" marT="0" marB="0" anchor="ctr"/>
                </a:tc>
                <a:extLst>
                  <a:ext uri="{0D108BD9-81ED-4DB2-BD59-A6C34878D82A}">
                    <a16:rowId xmlns:a16="http://schemas.microsoft.com/office/drawing/2014/main" val="28448618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48331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4B7F0-B0F8-502D-6F11-6AC1692CE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92;p9">
            <a:extLst>
              <a:ext uri="{FF2B5EF4-FFF2-40B4-BE49-F238E27FC236}">
                <a16:creationId xmlns:a16="http://schemas.microsoft.com/office/drawing/2014/main" id="{322D8118-61F1-52BF-147F-C653A50960CB}"/>
              </a:ext>
            </a:extLst>
          </p:cNvPr>
          <p:cNvSpPr txBox="1">
            <a:spLocks/>
          </p:cNvSpPr>
          <p:nvPr/>
        </p:nvSpPr>
        <p:spPr>
          <a:xfrm>
            <a:off x="300853" y="90644"/>
            <a:ext cx="10492382" cy="381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/>
            <a:r>
              <a:rPr lang="vi-VN" sz="2800" dirty="0" err="1">
                <a:solidFill>
                  <a:srgbClr val="002060"/>
                </a:solidFill>
                <a:latin typeface="Arial Rounded MT Bold" panose="020F0704030504030204" pitchFamily="34" charset="0"/>
              </a:rPr>
              <a:t>Schematic</a:t>
            </a:r>
            <a:r>
              <a:rPr lang="vi-VN" sz="2800" dirty="0">
                <a:solidFill>
                  <a:srgbClr val="002060"/>
                </a:solidFill>
                <a:latin typeface="Arial Rounded MT Bold" panose="020F0704030504030204" pitchFamily="34" charset="0"/>
              </a:rPr>
              <a:t> </a:t>
            </a:r>
            <a:r>
              <a:rPr lang="vi-VN" sz="2800" dirty="0" err="1">
                <a:solidFill>
                  <a:srgbClr val="002060"/>
                </a:solidFill>
                <a:latin typeface="Arial Rounded MT Bold" panose="020F0704030504030204" pitchFamily="34" charset="0"/>
              </a:rPr>
              <a:t>for</a:t>
            </a:r>
            <a:r>
              <a:rPr lang="vi-VN" sz="2800" dirty="0">
                <a:solidFill>
                  <a:srgbClr val="002060"/>
                </a:solidFill>
                <a:latin typeface="Arial Rounded MT Bold" panose="020F0704030504030204" pitchFamily="34" charset="0"/>
              </a:rPr>
              <a:t> </a:t>
            </a:r>
            <a:r>
              <a:rPr lang="vi-VN" sz="2800" dirty="0" err="1">
                <a:solidFill>
                  <a:srgbClr val="002060"/>
                </a:solidFill>
                <a:latin typeface="Arial Rounded MT Bold" panose="020F0704030504030204" pitchFamily="34" charset="0"/>
              </a:rPr>
              <a:t>Layout</a:t>
            </a:r>
            <a:endParaRPr lang="vi-VN" sz="2800" dirty="0">
              <a:solidFill>
                <a:srgbClr val="002060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7" name="Hình ảnh 6">
            <a:extLst>
              <a:ext uri="{FF2B5EF4-FFF2-40B4-BE49-F238E27FC236}">
                <a16:creationId xmlns:a16="http://schemas.microsoft.com/office/drawing/2014/main" id="{01A7F4B2-92A3-6484-88E7-09399EB653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861" y="629531"/>
            <a:ext cx="9688277" cy="5973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8579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83FB3-8FC1-5361-3390-8B3F9740B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92;p9">
            <a:extLst>
              <a:ext uri="{FF2B5EF4-FFF2-40B4-BE49-F238E27FC236}">
                <a16:creationId xmlns:a16="http://schemas.microsoft.com/office/drawing/2014/main" id="{45D85500-FD07-86BD-4B76-7168728666DB}"/>
              </a:ext>
            </a:extLst>
          </p:cNvPr>
          <p:cNvSpPr txBox="1">
            <a:spLocks/>
          </p:cNvSpPr>
          <p:nvPr/>
        </p:nvSpPr>
        <p:spPr>
          <a:xfrm>
            <a:off x="300853" y="90644"/>
            <a:ext cx="10492382" cy="381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/>
            <a:r>
              <a:rPr lang="vi-VN" sz="2800" dirty="0" err="1">
                <a:solidFill>
                  <a:srgbClr val="002060"/>
                </a:solidFill>
                <a:latin typeface="Arial Rounded MT Bold" panose="020F0704030504030204" pitchFamily="34" charset="0"/>
              </a:rPr>
              <a:t>Result</a:t>
            </a:r>
            <a:r>
              <a:rPr lang="vi-VN" sz="2800" dirty="0">
                <a:solidFill>
                  <a:srgbClr val="002060"/>
                </a:solidFill>
                <a:latin typeface="Arial Rounded MT Bold" panose="020F0704030504030204" pitchFamily="34" charset="0"/>
              </a:rPr>
              <a:t> </a:t>
            </a:r>
            <a:r>
              <a:rPr lang="vi-VN" sz="2800" dirty="0" err="1">
                <a:solidFill>
                  <a:srgbClr val="002060"/>
                </a:solidFill>
                <a:latin typeface="Arial Rounded MT Bold" panose="020F0704030504030204" pitchFamily="34" charset="0"/>
              </a:rPr>
              <a:t>pre</a:t>
            </a:r>
            <a:r>
              <a:rPr lang="vi-VN" sz="2800" dirty="0">
                <a:solidFill>
                  <a:srgbClr val="002060"/>
                </a:solidFill>
                <a:latin typeface="Arial Rounded MT Bold" panose="020F0704030504030204" pitchFamily="34" charset="0"/>
              </a:rPr>
              <a:t> </a:t>
            </a:r>
            <a:r>
              <a:rPr lang="vi-VN" sz="2800" dirty="0" err="1">
                <a:solidFill>
                  <a:srgbClr val="002060"/>
                </a:solidFill>
                <a:latin typeface="Arial Rounded MT Bold" panose="020F0704030504030204" pitchFamily="34" charset="0"/>
              </a:rPr>
              <a:t>layout</a:t>
            </a:r>
            <a:endParaRPr lang="vi-VN" sz="2800" dirty="0">
              <a:solidFill>
                <a:srgbClr val="002060"/>
              </a:solidFill>
              <a:latin typeface="Arial Rounded MT Bold" panose="020F0704030504030204" pitchFamily="34" charset="0"/>
            </a:endParaRPr>
          </a:p>
        </p:txBody>
      </p:sp>
      <p:graphicFrame>
        <p:nvGraphicFramePr>
          <p:cNvPr id="6" name="Table 2">
            <a:extLst>
              <a:ext uri="{FF2B5EF4-FFF2-40B4-BE49-F238E27FC236}">
                <a16:creationId xmlns:a16="http://schemas.microsoft.com/office/drawing/2014/main" id="{CCA0F54F-2263-BAA2-4EE8-7578701ECBF9}"/>
              </a:ext>
            </a:extLst>
          </p:cNvPr>
          <p:cNvGraphicFramePr>
            <a:graphicFrameLocks noGrp="1"/>
          </p:cNvGraphicFramePr>
          <p:nvPr/>
        </p:nvGraphicFramePr>
        <p:xfrm>
          <a:off x="1176676" y="847743"/>
          <a:ext cx="9838648" cy="458547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24557">
                  <a:extLst>
                    <a:ext uri="{9D8B030D-6E8A-4147-A177-3AD203B41FA5}">
                      <a16:colId xmlns:a16="http://schemas.microsoft.com/office/drawing/2014/main" val="2940644999"/>
                    </a:ext>
                  </a:extLst>
                </a:gridCol>
                <a:gridCol w="892778">
                  <a:extLst>
                    <a:ext uri="{9D8B030D-6E8A-4147-A177-3AD203B41FA5}">
                      <a16:colId xmlns:a16="http://schemas.microsoft.com/office/drawing/2014/main" val="1459096793"/>
                    </a:ext>
                  </a:extLst>
                </a:gridCol>
                <a:gridCol w="1654686">
                  <a:extLst>
                    <a:ext uri="{9D8B030D-6E8A-4147-A177-3AD203B41FA5}">
                      <a16:colId xmlns:a16="http://schemas.microsoft.com/office/drawing/2014/main" val="1564326977"/>
                    </a:ext>
                  </a:extLst>
                </a:gridCol>
                <a:gridCol w="1528195">
                  <a:extLst>
                    <a:ext uri="{9D8B030D-6E8A-4147-A177-3AD203B41FA5}">
                      <a16:colId xmlns:a16="http://schemas.microsoft.com/office/drawing/2014/main" val="2756081489"/>
                    </a:ext>
                  </a:extLst>
                </a:gridCol>
                <a:gridCol w="1474823">
                  <a:extLst>
                    <a:ext uri="{9D8B030D-6E8A-4147-A177-3AD203B41FA5}">
                      <a16:colId xmlns:a16="http://schemas.microsoft.com/office/drawing/2014/main" val="919814007"/>
                    </a:ext>
                  </a:extLst>
                </a:gridCol>
                <a:gridCol w="1863609">
                  <a:extLst>
                    <a:ext uri="{9D8B030D-6E8A-4147-A177-3AD203B41FA5}">
                      <a16:colId xmlns:a16="http://schemas.microsoft.com/office/drawing/2014/main" val="3808035327"/>
                    </a:ext>
                  </a:extLst>
                </a:gridCol>
              </a:tblGrid>
              <a:tr h="419946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Design specification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4" marR="37024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Min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4" marR="3702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Max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4" marR="3702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Typical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4" marR="3702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Test condition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4" marR="37024" marT="0" marB="0" anchor="ctr"/>
                </a:tc>
                <a:extLst>
                  <a:ext uri="{0D108BD9-81ED-4DB2-BD59-A6C34878D82A}">
                    <a16:rowId xmlns:a16="http://schemas.microsoft.com/office/drawing/2014/main" val="2472541320"/>
                  </a:ext>
                </a:extLst>
              </a:tr>
              <a:tr h="513987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Opened-loop gain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4" marR="37024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62.64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dB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4" marR="3702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68.72dB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4" marR="3702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67.04dB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4" marR="37024" marT="0" marB="0" anchor="ctr"/>
                </a:tc>
                <a:tc rowSpan="6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In CM = </a:t>
                      </a:r>
                      <a:r>
                        <a:rPr lang="vi-VN" sz="1400" dirty="0">
                          <a:effectLst/>
                        </a:rPr>
                        <a:t>0.6</a:t>
                      </a:r>
                      <a:endParaRPr lang="en-US" sz="1400" dirty="0">
                        <a:effectLst/>
                      </a:endParaRPr>
                    </a:p>
                  </a:txBody>
                  <a:tcPr marL="37024" marR="37024" marT="0" marB="0" anchor="ctr"/>
                </a:tc>
                <a:extLst>
                  <a:ext uri="{0D108BD9-81ED-4DB2-BD59-A6C34878D82A}">
                    <a16:rowId xmlns:a16="http://schemas.microsoft.com/office/drawing/2014/main" val="2181647737"/>
                  </a:ext>
                </a:extLst>
              </a:tr>
              <a:tr h="517699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CMRR (single-ended)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4" marR="37024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89</a:t>
                      </a:r>
                      <a:r>
                        <a:rPr lang="vi-V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.35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dB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4" marR="3702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102</a:t>
                      </a:r>
                      <a:r>
                        <a:rPr lang="vi-V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.05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dB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4" marR="3702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69.88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4" marR="37024" marT="0" marB="0" anchor="ctr"/>
                </a:tc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4" marR="37024" marT="0" marB="0"/>
                </a:tc>
                <a:extLst>
                  <a:ext uri="{0D108BD9-81ED-4DB2-BD59-A6C34878D82A}">
                    <a16:rowId xmlns:a16="http://schemas.microsoft.com/office/drawing/2014/main" val="573147736"/>
                  </a:ext>
                </a:extLst>
              </a:tr>
              <a:tr h="578273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4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Slew</a:t>
                      </a:r>
                      <a:r>
                        <a:rPr lang="vi-VN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vi-VN" sz="14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rate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4" marR="37024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15.11V/</a:t>
                      </a:r>
                      <a:r>
                        <a:rPr lang="vi-VN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uS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4" marR="3702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31.15MV/</a:t>
                      </a:r>
                      <a:r>
                        <a:rPr lang="vi-VN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uS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4" marR="3702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27V/</a:t>
                      </a:r>
                      <a:r>
                        <a:rPr lang="vi-VN" sz="14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uS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4" marR="37024" marT="0" marB="0" anchor="ctr"/>
                </a:tc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4" marR="37024" marT="0" marB="0"/>
                </a:tc>
                <a:extLst>
                  <a:ext uri="{0D108BD9-81ED-4DB2-BD59-A6C34878D82A}">
                    <a16:rowId xmlns:a16="http://schemas.microsoft.com/office/drawing/2014/main" val="2591263347"/>
                  </a:ext>
                </a:extLst>
              </a:tr>
              <a:tr h="69081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Unity gain BW</a:t>
                      </a:r>
                    </a:p>
                  </a:txBody>
                  <a:tcPr marL="37024" marR="3702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400" dirty="0">
                          <a:effectLst/>
                        </a:rPr>
                        <a:t>1p</a:t>
                      </a:r>
                      <a:endParaRPr lang="en-US" sz="1400" dirty="0">
                        <a:effectLst/>
                      </a:endParaRPr>
                    </a:p>
                  </a:txBody>
                  <a:tcPr marL="37024" marR="3702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52.75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MHz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4" marR="3702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96.73M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Hz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4" marR="3702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74.32MHz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4" marR="37024" marT="0" marB="0" anchor="ctr"/>
                </a:tc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4" marR="37024" marT="0" marB="0"/>
                </a:tc>
                <a:extLst>
                  <a:ext uri="{0D108BD9-81ED-4DB2-BD59-A6C34878D82A}">
                    <a16:rowId xmlns:a16="http://schemas.microsoft.com/office/drawing/2014/main" val="1558309100"/>
                  </a:ext>
                </a:extLst>
              </a:tr>
              <a:tr h="7339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Phase Margin</a:t>
                      </a:r>
                    </a:p>
                  </a:txBody>
                  <a:tcPr marL="37024" marR="3702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400">
                          <a:effectLst/>
                        </a:rPr>
                        <a:t>1p</a:t>
                      </a:r>
                      <a:endParaRPr lang="vi-VN" sz="1400" dirty="0">
                        <a:effectLst/>
                      </a:endParaRPr>
                    </a:p>
                  </a:txBody>
                  <a:tcPr marL="37024" marR="3702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66.02 </a:t>
                      </a: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deg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4" marR="3702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79.2 </a:t>
                      </a: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deg</a:t>
                      </a:r>
                      <a:endParaRPr lang="en-US" sz="1400" dirty="0">
                        <a:effectLst/>
                      </a:endParaRPr>
                    </a:p>
                  </a:txBody>
                  <a:tcPr marL="37024" marR="3702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400" dirty="0">
                          <a:effectLst/>
                        </a:rPr>
                        <a:t>73.09 </a:t>
                      </a:r>
                      <a:r>
                        <a:rPr lang="vi-VN" sz="1400" dirty="0" err="1">
                          <a:effectLst/>
                        </a:rPr>
                        <a:t>degree</a:t>
                      </a:r>
                      <a:endParaRPr lang="en-US" sz="1400" dirty="0">
                        <a:effectLst/>
                      </a:endParaRPr>
                    </a:p>
                  </a:txBody>
                  <a:tcPr marL="37024" marR="37024" marT="0" marB="0" anchor="ctr"/>
                </a:tc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4" marR="37024" marT="0" marB="0"/>
                </a:tc>
                <a:extLst>
                  <a:ext uri="{0D108BD9-81ED-4DB2-BD59-A6C34878D82A}">
                    <a16:rowId xmlns:a16="http://schemas.microsoft.com/office/drawing/2014/main" val="401879886"/>
                  </a:ext>
                </a:extLst>
              </a:tr>
              <a:tr h="394508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4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Closed-loop</a:t>
                      </a:r>
                      <a:r>
                        <a:rPr lang="vi-VN" sz="14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vi-VN" sz="14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gain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4" marR="37024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7945" marR="3556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vi-VN" sz="14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56.17dB</a:t>
                      </a:r>
                      <a:endParaRPr lang="en-US" sz="14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37024" marR="37024" marT="0" marB="0" anchor="ctr"/>
                </a:tc>
                <a:tc>
                  <a:txBody>
                    <a:bodyPr/>
                    <a:lstStyle/>
                    <a:p>
                      <a:pPr marL="67945" marR="3556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vi-VN" sz="14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62.49dB</a:t>
                      </a:r>
                      <a:endParaRPr lang="en-US" sz="14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37024" marR="37024" marT="0" marB="0" anchor="ctr"/>
                </a:tc>
                <a:tc>
                  <a:txBody>
                    <a:bodyPr/>
                    <a:lstStyle/>
                    <a:p>
                      <a:pPr marL="67945" marR="3556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vi-VN" sz="14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60.75dB</a:t>
                      </a:r>
                      <a:endParaRPr lang="en-US" sz="14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37024" marR="37024" marT="0" marB="0" anchor="ctr"/>
                </a:tc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4" marR="37024" marT="0" marB="0"/>
                </a:tc>
                <a:extLst>
                  <a:ext uri="{0D108BD9-81ED-4DB2-BD59-A6C34878D82A}">
                    <a16:rowId xmlns:a16="http://schemas.microsoft.com/office/drawing/2014/main" val="3766011500"/>
                  </a:ext>
                </a:extLst>
              </a:tr>
              <a:tr h="736262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ICMR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4" marR="37024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-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4" marR="3702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-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4" marR="3702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0.</a:t>
                      </a:r>
                      <a:r>
                        <a:rPr lang="vi-VN" sz="1400" dirty="0">
                          <a:effectLst/>
                        </a:rPr>
                        <a:t>5</a:t>
                      </a:r>
                      <a:r>
                        <a:rPr lang="en-US" sz="1400" dirty="0">
                          <a:effectLst/>
                        </a:rPr>
                        <a:t>V to </a:t>
                      </a:r>
                      <a:r>
                        <a:rPr lang="vi-VN" sz="1400" dirty="0">
                          <a:effectLst/>
                        </a:rPr>
                        <a:t>1</a:t>
                      </a:r>
                      <a:r>
                        <a:rPr lang="en-US" sz="1400" dirty="0">
                          <a:effectLst/>
                        </a:rPr>
                        <a:t>V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4" marR="3702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TTNN corner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24" marR="37024" marT="0" marB="0" anchor="ctr"/>
                </a:tc>
                <a:extLst>
                  <a:ext uri="{0D108BD9-81ED-4DB2-BD59-A6C34878D82A}">
                    <a16:rowId xmlns:a16="http://schemas.microsoft.com/office/drawing/2014/main" val="28448618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99467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70C8A-1D9C-A240-4C34-AE6ED9AFD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92;p9">
            <a:extLst>
              <a:ext uri="{FF2B5EF4-FFF2-40B4-BE49-F238E27FC236}">
                <a16:creationId xmlns:a16="http://schemas.microsoft.com/office/drawing/2014/main" id="{4E780882-A030-EB90-332B-9409D1732B6A}"/>
              </a:ext>
            </a:extLst>
          </p:cNvPr>
          <p:cNvSpPr txBox="1">
            <a:spLocks/>
          </p:cNvSpPr>
          <p:nvPr/>
        </p:nvSpPr>
        <p:spPr>
          <a:xfrm>
            <a:off x="300853" y="90644"/>
            <a:ext cx="10492382" cy="381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/>
            <a:r>
              <a:rPr lang="vi-VN" sz="2800" dirty="0" err="1">
                <a:solidFill>
                  <a:srgbClr val="002060"/>
                </a:solidFill>
                <a:latin typeface="Arial Rounded MT Bold" panose="020F0704030504030204" pitchFamily="34" charset="0"/>
              </a:rPr>
              <a:t>Layout</a:t>
            </a:r>
            <a:endParaRPr lang="vi-VN" sz="2800" dirty="0">
              <a:solidFill>
                <a:srgbClr val="002060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3" name="Hình ảnh 2">
            <a:extLst>
              <a:ext uri="{FF2B5EF4-FFF2-40B4-BE49-F238E27FC236}">
                <a16:creationId xmlns:a16="http://schemas.microsoft.com/office/drawing/2014/main" id="{CA3C5AF0-FD4A-C5AC-AF9A-5D0BEECE86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497" y="657077"/>
            <a:ext cx="8553005" cy="5543845"/>
          </a:xfrm>
          <a:prstGeom prst="rect">
            <a:avLst/>
          </a:prstGeom>
        </p:spPr>
      </p:pic>
      <p:sp>
        <p:nvSpPr>
          <p:cNvPr id="23" name="Hộp Văn bản 22">
            <a:extLst>
              <a:ext uri="{FF2B5EF4-FFF2-40B4-BE49-F238E27FC236}">
                <a16:creationId xmlns:a16="http://schemas.microsoft.com/office/drawing/2014/main" id="{0FBCF8FD-E0C1-4F7A-8001-C702872EF1E8}"/>
              </a:ext>
            </a:extLst>
          </p:cNvPr>
          <p:cNvSpPr txBox="1"/>
          <p:nvPr/>
        </p:nvSpPr>
        <p:spPr>
          <a:xfrm>
            <a:off x="446810" y="1174173"/>
            <a:ext cx="13726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PMOS </a:t>
            </a:r>
            <a:r>
              <a:rPr lang="vi-VN" dirty="0" err="1"/>
              <a:t>Curent</a:t>
            </a:r>
            <a:r>
              <a:rPr lang="vi-VN" dirty="0"/>
              <a:t> </a:t>
            </a:r>
            <a:r>
              <a:rPr lang="vi-VN" dirty="0" err="1"/>
              <a:t>load</a:t>
            </a:r>
            <a:r>
              <a:rPr lang="vi-VN" dirty="0"/>
              <a:t> </a:t>
            </a:r>
            <a:r>
              <a:rPr lang="vi-VN" dirty="0" err="1"/>
              <a:t>stage</a:t>
            </a:r>
            <a:r>
              <a:rPr lang="vi-VN" dirty="0"/>
              <a:t> 1</a:t>
            </a:r>
            <a:endParaRPr lang="en-US" dirty="0"/>
          </a:p>
        </p:txBody>
      </p:sp>
      <p:sp>
        <p:nvSpPr>
          <p:cNvPr id="24" name="Hộp Văn bản 23">
            <a:extLst>
              <a:ext uri="{FF2B5EF4-FFF2-40B4-BE49-F238E27FC236}">
                <a16:creationId xmlns:a16="http://schemas.microsoft.com/office/drawing/2014/main" id="{9A2330AA-7B9A-86EA-F858-F4CBFCC3D681}"/>
              </a:ext>
            </a:extLst>
          </p:cNvPr>
          <p:cNvSpPr txBox="1"/>
          <p:nvPr/>
        </p:nvSpPr>
        <p:spPr>
          <a:xfrm>
            <a:off x="499851" y="2978728"/>
            <a:ext cx="13726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NMOS </a:t>
            </a:r>
            <a:r>
              <a:rPr lang="vi-VN" dirty="0" err="1"/>
              <a:t>Diffpair</a:t>
            </a:r>
            <a:r>
              <a:rPr lang="vi-VN" dirty="0"/>
              <a:t> </a:t>
            </a:r>
            <a:r>
              <a:rPr lang="vi-VN" dirty="0" err="1"/>
              <a:t>stage</a:t>
            </a:r>
            <a:r>
              <a:rPr lang="vi-VN" dirty="0"/>
              <a:t> 1</a:t>
            </a:r>
            <a:endParaRPr lang="en-US" dirty="0"/>
          </a:p>
        </p:txBody>
      </p:sp>
      <p:sp>
        <p:nvSpPr>
          <p:cNvPr id="25" name="Hộp Văn bản 24">
            <a:extLst>
              <a:ext uri="{FF2B5EF4-FFF2-40B4-BE49-F238E27FC236}">
                <a16:creationId xmlns:a16="http://schemas.microsoft.com/office/drawing/2014/main" id="{9E515E62-3C52-6693-6CE5-08EB8190E9AD}"/>
              </a:ext>
            </a:extLst>
          </p:cNvPr>
          <p:cNvSpPr txBox="1"/>
          <p:nvPr/>
        </p:nvSpPr>
        <p:spPr>
          <a:xfrm>
            <a:off x="438592" y="5160607"/>
            <a:ext cx="13726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NMOS </a:t>
            </a:r>
            <a:r>
              <a:rPr lang="vi-VN" dirty="0" err="1"/>
              <a:t>Current</a:t>
            </a:r>
            <a:r>
              <a:rPr lang="vi-VN" dirty="0"/>
              <a:t> </a:t>
            </a:r>
            <a:r>
              <a:rPr lang="vi-VN" dirty="0" err="1"/>
              <a:t>miror</a:t>
            </a:r>
            <a:r>
              <a:rPr lang="vi-VN" dirty="0"/>
              <a:t> </a:t>
            </a:r>
            <a:r>
              <a:rPr lang="vi-VN" dirty="0" err="1"/>
              <a:t>stage</a:t>
            </a:r>
            <a:r>
              <a:rPr lang="vi-VN" dirty="0"/>
              <a:t> 1</a:t>
            </a:r>
            <a:endParaRPr lang="en-US" dirty="0"/>
          </a:p>
        </p:txBody>
      </p:sp>
      <p:sp>
        <p:nvSpPr>
          <p:cNvPr id="26" name="Hộp Văn bản 25">
            <a:extLst>
              <a:ext uri="{FF2B5EF4-FFF2-40B4-BE49-F238E27FC236}">
                <a16:creationId xmlns:a16="http://schemas.microsoft.com/office/drawing/2014/main" id="{6BDB4024-9246-EBFA-6327-37A7586C85A0}"/>
              </a:ext>
            </a:extLst>
          </p:cNvPr>
          <p:cNvSpPr txBox="1"/>
          <p:nvPr/>
        </p:nvSpPr>
        <p:spPr>
          <a:xfrm>
            <a:off x="2750599" y="6200922"/>
            <a:ext cx="27964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NMOS </a:t>
            </a:r>
            <a:r>
              <a:rPr lang="vi-VN" dirty="0" err="1"/>
              <a:t>Current</a:t>
            </a:r>
            <a:r>
              <a:rPr lang="vi-VN" dirty="0"/>
              <a:t> </a:t>
            </a:r>
            <a:r>
              <a:rPr lang="vi-VN" dirty="0" err="1"/>
              <a:t>miror</a:t>
            </a:r>
            <a:r>
              <a:rPr lang="vi-VN" dirty="0"/>
              <a:t> </a:t>
            </a:r>
            <a:r>
              <a:rPr lang="vi-VN" dirty="0" err="1"/>
              <a:t>stage</a:t>
            </a:r>
            <a:r>
              <a:rPr lang="vi-VN" dirty="0"/>
              <a:t> 2</a:t>
            </a:r>
            <a:endParaRPr lang="en-US" dirty="0"/>
          </a:p>
        </p:txBody>
      </p:sp>
      <p:sp>
        <p:nvSpPr>
          <p:cNvPr id="27" name="Hộp Văn bản 26">
            <a:extLst>
              <a:ext uri="{FF2B5EF4-FFF2-40B4-BE49-F238E27FC236}">
                <a16:creationId xmlns:a16="http://schemas.microsoft.com/office/drawing/2014/main" id="{91F89505-8C80-DD85-2A5B-A735E438F7F3}"/>
              </a:ext>
            </a:extLst>
          </p:cNvPr>
          <p:cNvSpPr txBox="1"/>
          <p:nvPr/>
        </p:nvSpPr>
        <p:spPr>
          <a:xfrm>
            <a:off x="10372502" y="872836"/>
            <a:ext cx="18194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NMOS </a:t>
            </a:r>
            <a:r>
              <a:rPr lang="vi-VN" dirty="0" err="1"/>
              <a:t>Current</a:t>
            </a:r>
            <a:r>
              <a:rPr lang="vi-VN" dirty="0"/>
              <a:t> </a:t>
            </a:r>
            <a:r>
              <a:rPr lang="vi-VN" dirty="0" err="1"/>
              <a:t>load</a:t>
            </a:r>
            <a:r>
              <a:rPr lang="vi-VN" dirty="0"/>
              <a:t> </a:t>
            </a:r>
            <a:r>
              <a:rPr lang="vi-VN" dirty="0" err="1"/>
              <a:t>stage</a:t>
            </a:r>
            <a:r>
              <a:rPr lang="vi-VN" dirty="0"/>
              <a:t>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2642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9"/>
          <p:cNvSpPr txBox="1">
            <a:spLocks noGrp="1"/>
          </p:cNvSpPr>
          <p:nvPr>
            <p:ph type="title" idx="4294967295"/>
          </p:nvPr>
        </p:nvSpPr>
        <p:spPr>
          <a:xfrm>
            <a:off x="239349" y="116632"/>
            <a:ext cx="10492382" cy="381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/>
            <a:r>
              <a:rPr lang="vi-VN" sz="2800" dirty="0">
                <a:solidFill>
                  <a:srgbClr val="002060"/>
                </a:solidFill>
                <a:latin typeface="Arial Rounded MT Bold" panose="020F0704030504030204" pitchFamily="34" charset="0"/>
              </a:rPr>
              <a:t>Reference</a:t>
            </a:r>
            <a:endParaRPr sz="1100" dirty="0">
              <a:solidFill>
                <a:srgbClr val="C000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5" name="Google Shape;95;p9" descr="image being cropped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2DB3D517-1D98-B490-87A8-933856BA3D0A}"/>
              </a:ext>
            </a:extLst>
          </p:cNvPr>
          <p:cNvSpPr txBox="1"/>
          <p:nvPr/>
        </p:nvSpPr>
        <p:spPr>
          <a:xfrm>
            <a:off x="385893" y="763398"/>
            <a:ext cx="114718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800" dirty="0"/>
              <a:t>[1] </a:t>
            </a:r>
            <a:r>
              <a:rPr lang="vi-VN" sz="1800" dirty="0" err="1"/>
              <a:t>Low</a:t>
            </a:r>
            <a:r>
              <a:rPr lang="vi-VN" sz="1800" dirty="0"/>
              <a:t> </a:t>
            </a:r>
            <a:r>
              <a:rPr lang="vi-VN" sz="1800" dirty="0" err="1"/>
              <a:t>Dropout</a:t>
            </a:r>
            <a:r>
              <a:rPr lang="vi-VN" sz="1800" dirty="0"/>
              <a:t> </a:t>
            </a:r>
            <a:r>
              <a:rPr lang="vi-VN" sz="1800" dirty="0" err="1"/>
              <a:t>Regulators</a:t>
            </a:r>
            <a:r>
              <a:rPr lang="vi-VN" sz="1800" dirty="0"/>
              <a:t>, </a:t>
            </a:r>
            <a:r>
              <a:rPr lang="en-US" sz="1800" dirty="0"/>
              <a:t>Pavan Kumar </a:t>
            </a:r>
            <a:r>
              <a:rPr lang="vi-VN" sz="1800" dirty="0" err="1"/>
              <a:t>Hanumolu</a:t>
            </a:r>
            <a:r>
              <a:rPr lang="vi-VN" sz="1800" dirty="0"/>
              <a:t> </a:t>
            </a:r>
            <a:r>
              <a:rPr lang="en-US" sz="1800" dirty="0"/>
              <a:t>University of Illinois, Urbana-</a:t>
            </a:r>
            <a:r>
              <a:rPr lang="vi-VN" sz="1800" dirty="0" err="1"/>
              <a:t>Champaign</a:t>
            </a:r>
            <a:r>
              <a:rPr lang="vi-VN" sz="1800" dirty="0"/>
              <a:t>, P. </a:t>
            </a:r>
            <a:r>
              <a:rPr lang="vi-VN" sz="1800" dirty="0" err="1"/>
              <a:t>Hanumolu</a:t>
            </a:r>
            <a:r>
              <a:rPr lang="vi-VN" sz="1800"/>
              <a:t> CICC 2015 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6537850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9"/>
          <p:cNvSpPr txBox="1">
            <a:spLocks noGrp="1"/>
          </p:cNvSpPr>
          <p:nvPr>
            <p:ph type="title" idx="4294967295"/>
          </p:nvPr>
        </p:nvSpPr>
        <p:spPr>
          <a:xfrm>
            <a:off x="239349" y="116632"/>
            <a:ext cx="10492382" cy="381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/>
            <a:r>
              <a:rPr lang="en-GB" sz="2800" dirty="0">
                <a:solidFill>
                  <a:srgbClr val="002060"/>
                </a:solidFill>
                <a:latin typeface="Arial Rounded MT Bold" panose="020F0704030504030204" pitchFamily="34" charset="0"/>
              </a:rPr>
              <a:t>Next week plan and schedule</a:t>
            </a:r>
            <a:endParaRPr sz="1100" dirty="0">
              <a:solidFill>
                <a:srgbClr val="C000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5" name="Google Shape;95;p9" descr="image being cropped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2DB3D517-1D98-B490-87A8-933856BA3D0A}"/>
              </a:ext>
            </a:extLst>
          </p:cNvPr>
          <p:cNvSpPr txBox="1"/>
          <p:nvPr/>
        </p:nvSpPr>
        <p:spPr>
          <a:xfrm>
            <a:off x="385894" y="763398"/>
            <a:ext cx="112496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600" dirty="0"/>
              <a:t>Reading </a:t>
            </a:r>
            <a:r>
              <a:rPr lang="vi-VN" sz="1600" dirty="0" err="1"/>
              <a:t>book</a:t>
            </a:r>
            <a:r>
              <a:rPr lang="vi-VN" sz="1600" dirty="0"/>
              <a:t> </a:t>
            </a:r>
            <a:r>
              <a:rPr lang="vi-VN" sz="1600" dirty="0" err="1"/>
              <a:t>from</a:t>
            </a:r>
            <a:r>
              <a:rPr lang="vi-VN" sz="1600" dirty="0"/>
              <a:t> </a:t>
            </a:r>
            <a:r>
              <a:rPr lang="vi-VN" sz="1600" dirty="0" err="1"/>
              <a:t>chapter</a:t>
            </a:r>
            <a:r>
              <a:rPr lang="vi-VN" sz="1600" dirty="0"/>
              <a:t> 4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9776598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7"/>
          <p:cNvSpPr txBox="1">
            <a:spLocks noGrp="1"/>
          </p:cNvSpPr>
          <p:nvPr>
            <p:ph type="ctrTitle"/>
          </p:nvPr>
        </p:nvSpPr>
        <p:spPr>
          <a:xfrm>
            <a:off x="0" y="2567306"/>
            <a:ext cx="121920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dirty="0">
                <a:solidFill>
                  <a:srgbClr val="006600"/>
                </a:solidFill>
                <a:latin typeface="Arial Rounded MT Bold" panose="020F0704030504030204" pitchFamily="34" charset="0"/>
              </a:rPr>
              <a:t>Thank you</a:t>
            </a:r>
            <a:endParaRPr sz="6000" dirty="0">
              <a:solidFill>
                <a:srgbClr val="006600"/>
              </a:solidFill>
              <a:latin typeface="Arial Rounded MT Bold" panose="020F07040305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semi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1A6F64CE2B490488120221739DBB948" ma:contentTypeVersion="18" ma:contentTypeDescription="Create a new document." ma:contentTypeScope="" ma:versionID="d07f66b23dd1e4b00a2014b25ed1f71c">
  <xsd:schema xmlns:xsd="http://www.w3.org/2001/XMLSchema" xmlns:xs="http://www.w3.org/2001/XMLSchema" xmlns:p="http://schemas.microsoft.com/office/2006/metadata/properties" xmlns:ns3="083708c2-41b0-4a6e-90ed-6b3cb7cc05b5" xmlns:ns4="99d78547-a821-4c15-9e93-7ce302e97034" targetNamespace="http://schemas.microsoft.com/office/2006/metadata/properties" ma:root="true" ma:fieldsID="ef0619d40f63adbdb08ddb3414779999" ns3:_="" ns4:_="">
    <xsd:import namespace="083708c2-41b0-4a6e-90ed-6b3cb7cc05b5"/>
    <xsd:import namespace="99d78547-a821-4c15-9e93-7ce302e9703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LengthInSecond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3708c2-41b0-4a6e-90ed-6b3cb7cc05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d78547-a821-4c15-9e93-7ce302e97034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83708c2-41b0-4a6e-90ed-6b3cb7cc05b5" xsi:nil="true"/>
  </documentManagement>
</p:properties>
</file>

<file path=customXml/itemProps1.xml><?xml version="1.0" encoding="utf-8"?>
<ds:datastoreItem xmlns:ds="http://schemas.openxmlformats.org/officeDocument/2006/customXml" ds:itemID="{E458764C-F187-47EE-B79E-F5337A0D4B5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83708c2-41b0-4a6e-90ed-6b3cb7cc05b5"/>
    <ds:schemaRef ds:uri="99d78547-a821-4c15-9e93-7ce302e9703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9E43286-FBA8-4D1C-B82B-001986C6FD7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B15B8FC-1EC7-487E-AF68-406097CDE0B2}">
  <ds:schemaRefs>
    <ds:schemaRef ds:uri="http://purl.org/dc/elements/1.1/"/>
    <ds:schemaRef ds:uri="083708c2-41b0-4a6e-90ed-6b3cb7cc05b5"/>
    <ds:schemaRef ds:uri="http://www.w3.org/XML/1998/namespace"/>
    <ds:schemaRef ds:uri="http://schemas.microsoft.com/office/infopath/2007/PartnerControls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99d78547-a821-4c15-9e93-7ce302e97034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171688</TotalTime>
  <Words>839</Words>
  <Application>Microsoft Office PowerPoint</Application>
  <PresentationFormat>Widescreen</PresentationFormat>
  <Paragraphs>225</Paragraphs>
  <Slides>30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Arial Rounded MT Bold</vt:lpstr>
      <vt:lpstr>Calibri</vt:lpstr>
      <vt:lpstr>Cambria Math</vt:lpstr>
      <vt:lpstr>Times New Roman</vt:lpstr>
      <vt:lpstr>Cosemi</vt:lpstr>
      <vt:lpstr>    Two stage Op-Amp 65nm Viet Ngo</vt:lpstr>
      <vt:lpstr>Content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</vt:lpstr>
      <vt:lpstr>Next week plan and schedule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Radio Frequency Integrated Circuits and Systems Laboratory -RFICS Lab-   Op Amp 65nm</dc:title>
  <dc:creator>ngo viet</dc:creator>
  <cp:lastModifiedBy>ngo viet</cp:lastModifiedBy>
  <cp:revision>4639</cp:revision>
  <dcterms:modified xsi:type="dcterms:W3CDTF">2026-01-08T07:24:21Z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0x01010041A6F64CE2B490488120221739DBB948</vt:lpwstr>
  </property>
</Properties>
</file>